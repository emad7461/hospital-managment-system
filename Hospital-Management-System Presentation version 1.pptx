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Alexandria" panose="020B0604020202020204" charset="-78"/>
      <p:regular r:id="rId19"/>
    </p:embeddedFont>
    <p:embeddedFont>
      <p:font typeface="Gill Sans MT" panose="020B0502020104020203" pitchFamily="34" charset="0"/>
      <p:regular r:id="rId20"/>
      <p:bold r:id="rId21"/>
    </p:embeddedFont>
    <p:embeddedFont>
      <p:font typeface="Nobile" panose="020B0604020202020204" charset="0"/>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611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99015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03008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095966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53538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13683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40563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12872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000632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920240" y="2864093"/>
            <a:ext cx="10789920" cy="1975104"/>
          </a:xfrm>
          <a:solidFill>
            <a:srgbClr val="FFFFFF"/>
          </a:solidFill>
          <a:ln w="38100">
            <a:solidFill>
              <a:srgbClr val="404040"/>
            </a:solidFill>
          </a:ln>
        </p:spPr>
        <p:txBody>
          <a:bodyPr lIns="274320" rIns="274320" anchor="ctr" anchorCtr="1">
            <a:normAutofit/>
          </a:bodyPr>
          <a:lstStyle>
            <a:lvl1pPr algn="ctr">
              <a:defRPr sz="456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3234233" y="5223053"/>
            <a:ext cx="8161934" cy="1487873"/>
          </a:xfrm>
          <a:noFill/>
        </p:spPr>
        <p:txBody>
          <a:bodyPr>
            <a:normAutofit/>
          </a:bodyPr>
          <a:lstStyle>
            <a:lvl1pPr marL="0" indent="0" algn="ctr">
              <a:buNone/>
              <a:defRPr sz="2400">
                <a:solidFill>
                  <a:schemeClr val="tx1">
                    <a:lumMod val="75000"/>
                    <a:lumOff val="25000"/>
                  </a:schemeClr>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93006956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6219871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920240" y="2864093"/>
            <a:ext cx="10789920" cy="1975104"/>
          </a:xfrm>
          <a:solidFill>
            <a:srgbClr val="FFFFFF"/>
          </a:solidFill>
          <a:ln w="38100">
            <a:solidFill>
              <a:srgbClr val="404040"/>
            </a:solidFill>
          </a:ln>
        </p:spPr>
        <p:txBody>
          <a:bodyPr lIns="274320" rIns="274320" anchor="ctr" anchorCtr="1">
            <a:normAutofit/>
          </a:bodyPr>
          <a:lstStyle>
            <a:lvl1pPr>
              <a:defRPr sz="456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34233" y="5222958"/>
            <a:ext cx="8161934" cy="1518098"/>
          </a:xfrm>
        </p:spPr>
        <p:txBody>
          <a:bodyPr anchor="t" anchorCtr="1">
            <a:normAutofit/>
          </a:bodyPr>
          <a:lstStyle>
            <a:lvl1pPr marL="0" indent="0">
              <a:buNone/>
              <a:defRPr sz="240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8984731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98295" y="3165653"/>
            <a:ext cx="5126125" cy="3722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05979" y="3165653"/>
            <a:ext cx="5124296" cy="3722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10/16/2024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2630674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00123" y="2776120"/>
            <a:ext cx="5124298" cy="844904"/>
          </a:xfrm>
        </p:spPr>
        <p:txBody>
          <a:bodyPr anchor="b" anchorCtr="1">
            <a:normAutofit/>
          </a:bodyPr>
          <a:lstStyle>
            <a:lvl1pPr marL="0" indent="0" algn="ctr">
              <a:buNone/>
              <a:defRPr sz="2280" b="0" cap="all" spc="120" baseline="0">
                <a:solidFill>
                  <a:schemeClr val="accent2">
                    <a:lumMod val="75000"/>
                  </a:schemeClr>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900123" y="3771900"/>
            <a:ext cx="5124298" cy="3116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7605979" y="3771900"/>
            <a:ext cx="5104181" cy="3116131"/>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7605979" y="2776120"/>
            <a:ext cx="5124298" cy="844904"/>
          </a:xfrm>
        </p:spPr>
        <p:txBody>
          <a:bodyPr anchor="b" anchorCtr="1">
            <a:normAutofit/>
          </a:bodyPr>
          <a:lstStyle>
            <a:lvl1pPr marL="0" indent="0" algn="ctr">
              <a:buNone/>
              <a:defRPr sz="2280" b="0" cap="all" spc="120" baseline="0">
                <a:solidFill>
                  <a:schemeClr val="accent2">
                    <a:lumMod val="75000"/>
                  </a:schemeClr>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26061729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7454416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62529318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7315200"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965607" y="2692594"/>
            <a:ext cx="5383987" cy="1369796"/>
          </a:xfrm>
          <a:solidFill>
            <a:srgbClr val="FFFFFF"/>
          </a:solidFill>
          <a:ln>
            <a:solidFill>
              <a:srgbClr val="404040"/>
            </a:solidFill>
          </a:ln>
        </p:spPr>
        <p:txBody>
          <a:bodyPr anchor="ctr" anchorCtr="1">
            <a:normAutofit/>
          </a:bodyPr>
          <a:lstStyle>
            <a:lvl1pPr>
              <a:defRPr sz="264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8083296" y="965607"/>
            <a:ext cx="5779008" cy="6298387"/>
          </a:xfrm>
        </p:spPr>
        <p:txBody>
          <a:bodyPr>
            <a:normAutofit/>
          </a:bodyPr>
          <a:lstStyle>
            <a:lvl1pPr>
              <a:defRPr sz="2280">
                <a:solidFill>
                  <a:schemeClr val="tx1"/>
                </a:solidFill>
              </a:defRPr>
            </a:lvl1pPr>
            <a:lvl2pPr>
              <a:defRPr sz="1920">
                <a:solidFill>
                  <a:schemeClr val="tx1"/>
                </a:solidFill>
              </a:defRPr>
            </a:lvl2pPr>
            <a:lvl3pPr>
              <a:defRPr sz="1920">
                <a:solidFill>
                  <a:schemeClr val="tx1"/>
                </a:solidFill>
              </a:defRPr>
            </a:lvl3pPr>
            <a:lvl4pPr>
              <a:defRPr sz="1920">
                <a:solidFill>
                  <a:schemeClr val="tx1"/>
                </a:solidFill>
              </a:defRPr>
            </a:lvl4pPr>
            <a:lvl5pPr>
              <a:defRPr sz="1920">
                <a:solidFill>
                  <a:schemeClr val="tx1"/>
                </a:solidFill>
              </a:defRPr>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38682" y="4259902"/>
            <a:ext cx="4553712" cy="2632843"/>
          </a:xfrm>
        </p:spPr>
        <p:txBody>
          <a:bodyPr anchor="t" anchorCtr="1">
            <a:normAutofit/>
          </a:bodyPr>
          <a:lstStyle>
            <a:lvl1pPr marL="0" indent="0" algn="ctr">
              <a:buNone/>
              <a:defRPr sz="1800">
                <a:solidFill>
                  <a:srgbClr val="FFFFFF"/>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10/16/2024</a:t>
            </a:fld>
            <a:endParaRPr lang="en-US" dirty="0"/>
          </a:p>
        </p:txBody>
      </p:sp>
      <p:sp>
        <p:nvSpPr>
          <p:cNvPr id="10" name="Footer Placeholder 9"/>
          <p:cNvSpPr>
            <a:spLocks noGrp="1"/>
          </p:cNvSpPr>
          <p:nvPr>
            <p:ph type="ftr" sz="quarter" idx="11"/>
          </p:nvPr>
        </p:nvSpPr>
        <p:spPr>
          <a:xfrm>
            <a:off x="965607" y="7483450"/>
            <a:ext cx="6149756" cy="384048"/>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93327817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731519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970227" y="2692594"/>
            <a:ext cx="5393998" cy="1361568"/>
          </a:xfrm>
          <a:solidFill>
            <a:srgbClr val="FFFFFF"/>
          </a:solidFill>
          <a:ln>
            <a:solidFill>
              <a:srgbClr val="404040"/>
            </a:solidFill>
          </a:ln>
        </p:spPr>
        <p:txBody>
          <a:bodyPr anchor="ctr" anchorCtr="1">
            <a:noAutofit/>
          </a:bodyPr>
          <a:lstStyle>
            <a:lvl1pPr>
              <a:defRPr sz="264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7315200" y="0"/>
            <a:ext cx="7322516" cy="8229600"/>
          </a:xfrm>
          <a:solidFill>
            <a:schemeClr val="bg1">
              <a:lumMod val="75000"/>
            </a:schemeClr>
          </a:solidFill>
        </p:spPr>
        <p:txBody>
          <a:bodyPr anchor="t"/>
          <a:lstStyle>
            <a:lvl1pPr marL="0" indent="0">
              <a:buNone/>
              <a:defRPr sz="3840">
                <a:solidFill>
                  <a:schemeClr val="bg1">
                    <a:lumMod val="85000"/>
                    <a:lumOff val="15000"/>
                  </a:schemeClr>
                </a:solidFill>
              </a:defRPr>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38682" y="4259902"/>
            <a:ext cx="4553712" cy="2632844"/>
          </a:xfrm>
        </p:spPr>
        <p:txBody>
          <a:bodyPr anchor="t" anchorCtr="1">
            <a:normAutofit/>
          </a:bodyPr>
          <a:lstStyle>
            <a:lvl1pPr marL="0" indent="0" algn="ctr">
              <a:buNone/>
              <a:defRPr sz="1800">
                <a:solidFill>
                  <a:srgbClr val="FFFFFF"/>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10/16/2024</a:t>
            </a:fld>
            <a:endParaRPr lang="en-US" dirty="0"/>
          </a:p>
        </p:txBody>
      </p:sp>
      <p:sp>
        <p:nvSpPr>
          <p:cNvPr id="9" name="Footer Placeholder 8"/>
          <p:cNvSpPr>
            <a:spLocks noGrp="1"/>
          </p:cNvSpPr>
          <p:nvPr>
            <p:ph type="ftr" sz="quarter" idx="11"/>
          </p:nvPr>
        </p:nvSpPr>
        <p:spPr>
          <a:xfrm>
            <a:off x="965607" y="7483450"/>
            <a:ext cx="6149756" cy="384048"/>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5286269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954525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83734" y="1124712"/>
            <a:ext cx="1558330" cy="59801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77364" y="1124712"/>
            <a:ext cx="7438187" cy="59801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15682974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6891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608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157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146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8816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1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97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01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677363" y="1157630"/>
            <a:ext cx="9275674" cy="1426464"/>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77363" y="3165653"/>
            <a:ext cx="9275674" cy="37223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385715" y="7486579"/>
            <a:ext cx="3304495" cy="388762"/>
          </a:xfrm>
          <a:prstGeom prst="rect">
            <a:avLst/>
          </a:prstGeom>
        </p:spPr>
        <p:txBody>
          <a:bodyPr vert="horz" lIns="91440" tIns="45720" rIns="91440" bIns="45720" rtlCol="0" anchor="ctr"/>
          <a:lstStyle>
            <a:lvl1pPr algn="r">
              <a:defRPr sz="1260">
                <a:solidFill>
                  <a:schemeClr val="tx1">
                    <a:alpha val="70000"/>
                  </a:schemeClr>
                </a:solidFill>
              </a:defRPr>
            </a:lvl1pPr>
          </a:lstStyle>
          <a:p>
            <a:fld id="{1160EA64-D806-43AC-9DF2-F8C432F32B4C}" type="datetimeFigureOut">
              <a:rPr lang="en-US" dirty="0"/>
              <a:t>10/16/2024</a:t>
            </a:fld>
            <a:endParaRPr lang="en-US" dirty="0"/>
          </a:p>
        </p:txBody>
      </p:sp>
      <p:sp>
        <p:nvSpPr>
          <p:cNvPr id="5" name="Footer Placeholder 4"/>
          <p:cNvSpPr>
            <a:spLocks noGrp="1"/>
          </p:cNvSpPr>
          <p:nvPr>
            <p:ph type="ftr" sz="quarter" idx="3"/>
          </p:nvPr>
        </p:nvSpPr>
        <p:spPr>
          <a:xfrm>
            <a:off x="1920241" y="7483450"/>
            <a:ext cx="7081427" cy="384048"/>
          </a:xfrm>
          <a:prstGeom prst="rect">
            <a:avLst/>
          </a:prstGeom>
        </p:spPr>
        <p:txBody>
          <a:bodyPr vert="horz" lIns="91440" tIns="45720" rIns="91440" bIns="45720" rtlCol="0" anchor="ctr"/>
          <a:lstStyle>
            <a:lvl1pPr algn="l">
              <a:defRPr sz="126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2910706" y="7461504"/>
            <a:ext cx="438912" cy="438912"/>
          </a:xfrm>
          <a:prstGeom prst="ellipse">
            <a:avLst/>
          </a:prstGeom>
          <a:solidFill>
            <a:srgbClr val="1D1D1D">
              <a:alpha val="70000"/>
            </a:srgbClr>
          </a:solidFill>
        </p:spPr>
        <p:txBody>
          <a:bodyPr vert="horz" lIns="18288" tIns="45720" rIns="18288" bIns="45720" rtlCol="0" anchor="ctr">
            <a:noAutofit/>
          </a:bodyPr>
          <a:lstStyle>
            <a:lvl1pPr algn="ctr">
              <a:defRPr sz="132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28092511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sldNum="0" hdr="0" ftr="0" dt="0"/>
  <p:txStyles>
    <p:titleStyle>
      <a:lvl1pPr algn="ctr" defTabSz="1097280" rtl="0" eaLnBrk="1" latinLnBrk="0" hangingPunct="1">
        <a:lnSpc>
          <a:spcPct val="90000"/>
        </a:lnSpc>
        <a:spcBef>
          <a:spcPct val="0"/>
        </a:spcBef>
        <a:buNone/>
        <a:defRPr sz="3360" kern="1200" cap="all" spc="240" baseline="0">
          <a:solidFill>
            <a:srgbClr val="262626"/>
          </a:solidFill>
          <a:latin typeface="+mj-lt"/>
          <a:ea typeface="+mj-ea"/>
          <a:cs typeface="+mj-cs"/>
        </a:defRPr>
      </a:lvl1pPr>
    </p:titleStyle>
    <p:bodyStyle>
      <a:lvl1pPr marL="274320" indent="-274320" algn="l" defTabSz="1097280" rtl="0" eaLnBrk="1" latinLnBrk="0" hangingPunct="1">
        <a:lnSpc>
          <a:spcPct val="100000"/>
        </a:lnSpc>
        <a:spcBef>
          <a:spcPts val="1200"/>
        </a:spcBef>
        <a:buClr>
          <a:schemeClr val="accent2"/>
        </a:buClr>
        <a:buFont typeface="Arial" panose="020B0604020202020204" pitchFamily="34" charset="0"/>
        <a:buChar char="•"/>
        <a:defRPr sz="2160" kern="1200">
          <a:solidFill>
            <a:schemeClr val="tx1">
              <a:lumMod val="85000"/>
              <a:lumOff val="15000"/>
            </a:schemeClr>
          </a:solidFill>
          <a:latin typeface="+mn-lt"/>
          <a:ea typeface="+mn-ea"/>
          <a:cs typeface="+mn-cs"/>
        </a:defRPr>
      </a:lvl1pPr>
      <a:lvl2pPr marL="54864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2pPr>
      <a:lvl3pPr marL="82296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3pPr>
      <a:lvl4pPr marL="109728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4pPr>
      <a:lvl5pPr marL="137160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lumMod val="85000"/>
              <a:lumOff val="15000"/>
            </a:schemeClr>
          </a:solidFill>
          <a:latin typeface="+mn-lt"/>
          <a:ea typeface="+mn-ea"/>
          <a:cs typeface="+mn-cs"/>
        </a:defRPr>
      </a:lvl5pPr>
      <a:lvl6pPr marL="1575436"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solidFill>
          <a:latin typeface="+mn-lt"/>
          <a:ea typeface="+mn-ea"/>
          <a:cs typeface="+mn-cs"/>
        </a:defRPr>
      </a:lvl6pPr>
      <a:lvl7pPr marL="1781176"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a:solidFill>
            <a:schemeClr val="tx1"/>
          </a:solidFill>
          <a:latin typeface="+mn-lt"/>
          <a:ea typeface="+mn-ea"/>
          <a:cs typeface="+mn-cs"/>
        </a:defRPr>
      </a:lvl7pPr>
      <a:lvl8pPr marL="198882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baseline="0">
          <a:solidFill>
            <a:schemeClr val="tx1"/>
          </a:solidFill>
          <a:latin typeface="+mn-lt"/>
          <a:ea typeface="+mn-ea"/>
          <a:cs typeface="+mn-cs"/>
        </a:defRPr>
      </a:lvl8pPr>
      <a:lvl9pPr marL="2259330" indent="-274320" algn="l" defTabSz="1097280" rtl="0" eaLnBrk="1" latinLnBrk="0" hangingPunct="1">
        <a:lnSpc>
          <a:spcPct val="100000"/>
        </a:lnSpc>
        <a:spcBef>
          <a:spcPts val="1200"/>
        </a:spcBef>
        <a:buClr>
          <a:schemeClr val="accent2"/>
        </a:buClr>
        <a:buFont typeface="Arial" panose="020B0604020202020204" pitchFamily="34" charset="0"/>
        <a:buChar char="•"/>
        <a:defRPr sz="1920" kern="1200" baseline="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864037" y="1420654"/>
            <a:ext cx="7415927" cy="1543050"/>
          </a:xfrm>
          <a:prstGeom prst="rect">
            <a:avLst/>
          </a:prstGeom>
          <a:noFill/>
          <a:ln/>
        </p:spPr>
        <p:txBody>
          <a:bodyPr wrap="square" lIns="0" tIns="0" rIns="0" bIns="0" rtlCol="0" anchor="t"/>
          <a:lstStyle/>
          <a:p>
            <a:pPr marL="0" indent="0">
              <a:lnSpc>
                <a:spcPts val="6050"/>
              </a:lnSpc>
              <a:buNone/>
            </a:pPr>
            <a:r>
              <a:rPr lang="en-US" sz="4850" dirty="0">
                <a:solidFill>
                  <a:srgbClr val="1B1B27"/>
                </a:solidFill>
                <a:latin typeface="Alexandria" pitchFamily="34" charset="0"/>
                <a:ea typeface="Alexandria" pitchFamily="34" charset="-122"/>
                <a:cs typeface="Alexandria" pitchFamily="34" charset="-120"/>
              </a:rPr>
              <a:t>Hospital Management System</a:t>
            </a:r>
            <a:endParaRPr lang="en-US" sz="4850" dirty="0"/>
          </a:p>
        </p:txBody>
      </p:sp>
      <p:sp>
        <p:nvSpPr>
          <p:cNvPr id="4" name="Text 1"/>
          <p:cNvSpPr/>
          <p:nvPr/>
        </p:nvSpPr>
        <p:spPr>
          <a:xfrm>
            <a:off x="864037" y="3333988"/>
            <a:ext cx="7415927" cy="2765346"/>
          </a:xfrm>
          <a:prstGeom prst="rect">
            <a:avLst/>
          </a:prstGeom>
          <a:noFill/>
          <a:ln/>
        </p:spPr>
        <p:txBody>
          <a:bodyPr wrap="square" lIns="0" tIns="0" rIns="0" bIns="0" rtlCol="0" anchor="t"/>
          <a:lstStyle/>
          <a:p>
            <a:pPr marL="0" indent="0">
              <a:lnSpc>
                <a:spcPts val="3100"/>
              </a:lnSpc>
              <a:buNone/>
            </a:pPr>
            <a:r>
              <a:rPr lang="en-US" sz="1900" dirty="0">
                <a:solidFill>
                  <a:srgbClr val="404155"/>
                </a:solidFill>
                <a:latin typeface="Nobile" pitchFamily="34" charset="0"/>
                <a:ea typeface="Nobile" pitchFamily="34" charset="-122"/>
                <a:cs typeface="Nobile" pitchFamily="34" charset="-120"/>
              </a:rPr>
              <a:t>The Hospital Management System (HMS) is a comprehensive web application designed to streamline hospital operations, improve patient care, and enhance overall efficiency. Leveraging the latest technologies, the HMS addresses key challenges faced by hospitals, including appointment scheduling, medical record management, staff scheduling, and pharmacy operations.</a:t>
            </a:r>
            <a:endParaRPr lang="en-US" sz="1900" dirty="0"/>
          </a:p>
        </p:txBody>
      </p:sp>
      <p:sp>
        <p:nvSpPr>
          <p:cNvPr id="5" name="Shape 2"/>
          <p:cNvSpPr/>
          <p:nvPr/>
        </p:nvSpPr>
        <p:spPr>
          <a:xfrm>
            <a:off x="864037" y="6395442"/>
            <a:ext cx="394930" cy="394930"/>
          </a:xfrm>
          <a:prstGeom prst="roundRect">
            <a:avLst>
              <a:gd name="adj" fmla="val 23151155"/>
            </a:avLst>
          </a:prstGeom>
          <a:noFill/>
          <a:ln w="7620">
            <a:solidFill>
              <a:srgbClr val="FFFFFF"/>
            </a:solidFill>
            <a:prstDash val="solid"/>
          </a:ln>
        </p:spPr>
      </p:sp>
      <p:pic>
        <p:nvPicPr>
          <p:cNvPr id="12" name="Picture 11">
            <a:extLst>
              <a:ext uri="{FF2B5EF4-FFF2-40B4-BE49-F238E27FC236}">
                <a16:creationId xmlns:a16="http://schemas.microsoft.com/office/drawing/2014/main" id="{93540E04-6A5A-FF1A-0ADB-716684808E67}"/>
              </a:ext>
            </a:extLst>
          </p:cNvPr>
          <p:cNvPicPr>
            <a:picLocks noChangeAspect="1"/>
          </p:cNvPicPr>
          <p:nvPr/>
        </p:nvPicPr>
        <p:blipFill>
          <a:blip r:embed="rId3"/>
          <a:stretch>
            <a:fillRect/>
          </a:stretch>
        </p:blipFill>
        <p:spPr>
          <a:xfrm>
            <a:off x="10175762" y="370537"/>
            <a:ext cx="3590601" cy="722247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807964"/>
            <a:ext cx="8549759" cy="771525"/>
          </a:xfrm>
          <a:prstGeom prst="rect">
            <a:avLst/>
          </a:prstGeom>
          <a:noFill/>
          <a:ln/>
        </p:spPr>
        <p:txBody>
          <a:bodyPr wrap="none" lIns="0" tIns="0" rIns="0" bIns="0" rtlCol="0" anchor="t"/>
          <a:lstStyle/>
          <a:p>
            <a:pPr marL="0" indent="0">
              <a:lnSpc>
                <a:spcPts val="6050"/>
              </a:lnSpc>
              <a:buNone/>
            </a:pPr>
            <a:r>
              <a:rPr lang="en-US" sz="4850" dirty="0">
                <a:solidFill>
                  <a:srgbClr val="1B1B27"/>
                </a:solidFill>
                <a:latin typeface="Alexandria" pitchFamily="34" charset="0"/>
                <a:ea typeface="Alexandria" pitchFamily="34" charset="-122"/>
                <a:cs typeface="Alexandria" pitchFamily="34" charset="-120"/>
              </a:rPr>
              <a:t>Centralized Patient Records</a:t>
            </a:r>
            <a:endParaRPr lang="en-US" sz="4850" dirty="0"/>
          </a:p>
        </p:txBody>
      </p:sp>
      <p:sp>
        <p:nvSpPr>
          <p:cNvPr id="3" name="Text 1"/>
          <p:cNvSpPr/>
          <p:nvPr/>
        </p:nvSpPr>
        <p:spPr>
          <a:xfrm>
            <a:off x="864037" y="3196590"/>
            <a:ext cx="3086100" cy="385763"/>
          </a:xfrm>
          <a:prstGeom prst="rect">
            <a:avLst/>
          </a:prstGeom>
          <a:noFill/>
          <a:ln/>
        </p:spPr>
        <p:txBody>
          <a:bodyPr wrap="none" lIns="0" tIns="0" rIns="0" bIns="0" rtlCol="0" anchor="t"/>
          <a:lstStyle/>
          <a:p>
            <a:pPr marL="0" indent="0">
              <a:lnSpc>
                <a:spcPts val="3000"/>
              </a:lnSpc>
              <a:buNone/>
            </a:pPr>
            <a:r>
              <a:rPr lang="en-US" sz="2400" dirty="0">
                <a:solidFill>
                  <a:srgbClr val="1B1B27"/>
                </a:solidFill>
                <a:latin typeface="Alexandria" pitchFamily="34" charset="0"/>
                <a:ea typeface="Alexandria" pitchFamily="34" charset="-122"/>
                <a:cs typeface="Alexandria" pitchFamily="34" charset="-120"/>
              </a:rPr>
              <a:t>Secure Access</a:t>
            </a:r>
            <a:endParaRPr lang="en-US" sz="2400" dirty="0"/>
          </a:p>
        </p:txBody>
      </p:sp>
      <p:sp>
        <p:nvSpPr>
          <p:cNvPr id="4" name="Text 2"/>
          <p:cNvSpPr/>
          <p:nvPr/>
        </p:nvSpPr>
        <p:spPr>
          <a:xfrm>
            <a:off x="864037" y="3829169"/>
            <a:ext cx="3898821" cy="1975247"/>
          </a:xfrm>
          <a:prstGeom prst="rect">
            <a:avLst/>
          </a:prstGeom>
          <a:noFill/>
          <a:ln/>
        </p:spPr>
        <p:txBody>
          <a:bodyPr wrap="square" lIns="0" tIns="0" rIns="0" bIns="0" rtlCol="0" anchor="t"/>
          <a:lstStyle/>
          <a:p>
            <a:pPr marL="0" indent="0">
              <a:lnSpc>
                <a:spcPts val="3100"/>
              </a:lnSpc>
              <a:buNone/>
            </a:pPr>
            <a:r>
              <a:rPr lang="en-US" sz="1900" dirty="0">
                <a:solidFill>
                  <a:srgbClr val="404155"/>
                </a:solidFill>
                <a:latin typeface="Nobile" pitchFamily="34" charset="0"/>
                <a:ea typeface="Nobile" pitchFamily="34" charset="-122"/>
                <a:cs typeface="Nobile" pitchFamily="34" charset="-120"/>
              </a:rPr>
              <a:t>The HMS provides doctors with secure, role-based access to patient medical records, allowing them to efficiently update and retrieve critical information.</a:t>
            </a:r>
            <a:endParaRPr lang="en-US" sz="1900" dirty="0"/>
          </a:p>
        </p:txBody>
      </p:sp>
      <p:sp>
        <p:nvSpPr>
          <p:cNvPr id="5" name="Text 3"/>
          <p:cNvSpPr/>
          <p:nvPr/>
        </p:nvSpPr>
        <p:spPr>
          <a:xfrm>
            <a:off x="5372695" y="3196590"/>
            <a:ext cx="3086100" cy="385763"/>
          </a:xfrm>
          <a:prstGeom prst="rect">
            <a:avLst/>
          </a:prstGeom>
          <a:noFill/>
          <a:ln/>
        </p:spPr>
        <p:txBody>
          <a:bodyPr wrap="none" lIns="0" tIns="0" rIns="0" bIns="0" rtlCol="0" anchor="t"/>
          <a:lstStyle/>
          <a:p>
            <a:pPr marL="0" indent="0">
              <a:lnSpc>
                <a:spcPts val="3000"/>
              </a:lnSpc>
              <a:buNone/>
            </a:pPr>
            <a:r>
              <a:rPr lang="en-US" sz="2400" dirty="0">
                <a:solidFill>
                  <a:srgbClr val="1B1B27"/>
                </a:solidFill>
                <a:latin typeface="Alexandria" pitchFamily="34" charset="0"/>
                <a:ea typeface="Alexandria" pitchFamily="34" charset="-122"/>
                <a:cs typeface="Alexandria" pitchFamily="34" charset="-120"/>
              </a:rPr>
              <a:t>Improved Diagnosis</a:t>
            </a:r>
            <a:endParaRPr lang="en-US" sz="2400" dirty="0"/>
          </a:p>
        </p:txBody>
      </p:sp>
      <p:sp>
        <p:nvSpPr>
          <p:cNvPr id="6" name="Text 4"/>
          <p:cNvSpPr/>
          <p:nvPr/>
        </p:nvSpPr>
        <p:spPr>
          <a:xfrm>
            <a:off x="5372695" y="3829169"/>
            <a:ext cx="3898821" cy="1975247"/>
          </a:xfrm>
          <a:prstGeom prst="rect">
            <a:avLst/>
          </a:prstGeom>
          <a:noFill/>
          <a:ln/>
        </p:spPr>
        <p:txBody>
          <a:bodyPr wrap="square" lIns="0" tIns="0" rIns="0" bIns="0" rtlCol="0" anchor="t"/>
          <a:lstStyle/>
          <a:p>
            <a:pPr marL="0" indent="0">
              <a:lnSpc>
                <a:spcPts val="3100"/>
              </a:lnSpc>
              <a:buNone/>
            </a:pPr>
            <a:r>
              <a:rPr lang="en-US" sz="1900" dirty="0">
                <a:solidFill>
                  <a:srgbClr val="404155"/>
                </a:solidFill>
                <a:latin typeface="Nobile" pitchFamily="34" charset="0"/>
                <a:ea typeface="Nobile" pitchFamily="34" charset="-122"/>
                <a:cs typeface="Nobile" pitchFamily="34" charset="-120"/>
              </a:rPr>
              <a:t>By having immediate access to a patient's complete medical history, doctors can make more informed diagnoses and provide better-tailored treatment plans.</a:t>
            </a:r>
            <a:endParaRPr lang="en-US" sz="1900" dirty="0"/>
          </a:p>
        </p:txBody>
      </p:sp>
      <p:sp>
        <p:nvSpPr>
          <p:cNvPr id="7" name="Text 5"/>
          <p:cNvSpPr/>
          <p:nvPr/>
        </p:nvSpPr>
        <p:spPr>
          <a:xfrm>
            <a:off x="9881354" y="3196590"/>
            <a:ext cx="3086100" cy="385763"/>
          </a:xfrm>
          <a:prstGeom prst="rect">
            <a:avLst/>
          </a:prstGeom>
          <a:noFill/>
          <a:ln/>
        </p:spPr>
        <p:txBody>
          <a:bodyPr wrap="none" lIns="0" tIns="0" rIns="0" bIns="0" rtlCol="0" anchor="t"/>
          <a:lstStyle/>
          <a:p>
            <a:pPr marL="0" indent="0">
              <a:lnSpc>
                <a:spcPts val="3000"/>
              </a:lnSpc>
              <a:buNone/>
            </a:pPr>
            <a:r>
              <a:rPr lang="en-US" sz="2400" dirty="0">
                <a:solidFill>
                  <a:srgbClr val="1B1B27"/>
                </a:solidFill>
                <a:latin typeface="Alexandria" pitchFamily="34" charset="0"/>
                <a:ea typeface="Alexandria" pitchFamily="34" charset="-122"/>
                <a:cs typeface="Alexandria" pitchFamily="34" charset="-120"/>
              </a:rPr>
              <a:t>Reduced Errors</a:t>
            </a:r>
            <a:endParaRPr lang="en-US" sz="2400" dirty="0"/>
          </a:p>
        </p:txBody>
      </p:sp>
      <p:sp>
        <p:nvSpPr>
          <p:cNvPr id="8" name="Text 6"/>
          <p:cNvSpPr/>
          <p:nvPr/>
        </p:nvSpPr>
        <p:spPr>
          <a:xfrm>
            <a:off x="9881354" y="3829169"/>
            <a:ext cx="3898821" cy="2370296"/>
          </a:xfrm>
          <a:prstGeom prst="rect">
            <a:avLst/>
          </a:prstGeom>
          <a:noFill/>
          <a:ln/>
        </p:spPr>
        <p:txBody>
          <a:bodyPr wrap="square" lIns="0" tIns="0" rIns="0" bIns="0" rtlCol="0" anchor="t"/>
          <a:lstStyle/>
          <a:p>
            <a:pPr marL="0" indent="0">
              <a:lnSpc>
                <a:spcPts val="3100"/>
              </a:lnSpc>
              <a:buNone/>
            </a:pPr>
            <a:r>
              <a:rPr lang="en-US" sz="1900" dirty="0">
                <a:solidFill>
                  <a:srgbClr val="404155"/>
                </a:solidFill>
                <a:latin typeface="Nobile" pitchFamily="34" charset="0"/>
                <a:ea typeface="Nobile" pitchFamily="34" charset="-122"/>
                <a:cs typeface="Nobile" pitchFamily="34" charset="-120"/>
              </a:rPr>
              <a:t>The centralized medical record system helps eliminate the risk of lost or misplaced files, reducing the potential for medical errors and improving overall patient safety.</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4225" y="781645"/>
            <a:ext cx="7748349" cy="1246108"/>
          </a:xfrm>
          <a:prstGeom prst="rect">
            <a:avLst/>
          </a:prstGeom>
          <a:noFill/>
          <a:ln/>
        </p:spPr>
        <p:txBody>
          <a:bodyPr wrap="square" lIns="0" tIns="0" rIns="0" bIns="0" rtlCol="0" anchor="t"/>
          <a:lstStyle/>
          <a:p>
            <a:pPr marL="0" indent="0">
              <a:lnSpc>
                <a:spcPts val="4900"/>
              </a:lnSpc>
              <a:buNone/>
            </a:pPr>
            <a:r>
              <a:rPr lang="en-US" sz="3900" dirty="0">
                <a:solidFill>
                  <a:srgbClr val="1B1B27"/>
                </a:solidFill>
                <a:latin typeface="Alexandria" pitchFamily="34" charset="0"/>
                <a:ea typeface="Alexandria" pitchFamily="34" charset="-122"/>
                <a:cs typeface="Alexandria" pitchFamily="34" charset="-120"/>
              </a:rPr>
              <a:t>Streamlined Appointment Scheduling</a:t>
            </a:r>
            <a:endParaRPr lang="en-US" sz="3900" dirty="0"/>
          </a:p>
        </p:txBody>
      </p:sp>
      <p:sp>
        <p:nvSpPr>
          <p:cNvPr id="4" name="Shape 1"/>
          <p:cNvSpPr/>
          <p:nvPr/>
        </p:nvSpPr>
        <p:spPr>
          <a:xfrm>
            <a:off x="6471880" y="2326838"/>
            <a:ext cx="22860" cy="5121116"/>
          </a:xfrm>
          <a:prstGeom prst="roundRect">
            <a:avLst>
              <a:gd name="adj" fmla="val 366346"/>
            </a:avLst>
          </a:prstGeom>
          <a:solidFill>
            <a:srgbClr val="B8C3DF"/>
          </a:solidFill>
          <a:ln/>
        </p:spPr>
      </p:sp>
      <p:sp>
        <p:nvSpPr>
          <p:cNvPr id="5" name="Shape 2"/>
          <p:cNvSpPr/>
          <p:nvPr/>
        </p:nvSpPr>
        <p:spPr>
          <a:xfrm>
            <a:off x="6684764" y="2764036"/>
            <a:ext cx="697825" cy="22860"/>
          </a:xfrm>
          <a:prstGeom prst="roundRect">
            <a:avLst>
              <a:gd name="adj" fmla="val 366346"/>
            </a:avLst>
          </a:prstGeom>
          <a:solidFill>
            <a:srgbClr val="B8C3DF"/>
          </a:solidFill>
          <a:ln/>
        </p:spPr>
      </p:sp>
      <p:sp>
        <p:nvSpPr>
          <p:cNvPr id="6" name="Shape 3"/>
          <p:cNvSpPr/>
          <p:nvPr/>
        </p:nvSpPr>
        <p:spPr>
          <a:xfrm>
            <a:off x="6258997" y="2551152"/>
            <a:ext cx="448628" cy="448628"/>
          </a:xfrm>
          <a:prstGeom prst="roundRect">
            <a:avLst>
              <a:gd name="adj" fmla="val 18667"/>
            </a:avLst>
          </a:prstGeom>
          <a:solidFill>
            <a:srgbClr val="D2DDF9"/>
          </a:solidFill>
          <a:ln w="7620">
            <a:solidFill>
              <a:srgbClr val="B8C3DF"/>
            </a:solidFill>
            <a:prstDash val="solid"/>
          </a:ln>
        </p:spPr>
      </p:sp>
      <p:sp>
        <p:nvSpPr>
          <p:cNvPr id="7" name="Text 4"/>
          <p:cNvSpPr/>
          <p:nvPr/>
        </p:nvSpPr>
        <p:spPr>
          <a:xfrm>
            <a:off x="6427232" y="2625923"/>
            <a:ext cx="112157" cy="299085"/>
          </a:xfrm>
          <a:prstGeom prst="rect">
            <a:avLst/>
          </a:prstGeom>
          <a:noFill/>
          <a:ln/>
        </p:spPr>
        <p:txBody>
          <a:bodyPr wrap="none" lIns="0" tIns="0" rIns="0" bIns="0" rtlCol="0" anchor="t"/>
          <a:lstStyle/>
          <a:p>
            <a:pPr marL="0" indent="0" algn="ctr">
              <a:lnSpc>
                <a:spcPts val="2350"/>
              </a:lnSpc>
              <a:buNone/>
            </a:pPr>
            <a:r>
              <a:rPr lang="en-US" sz="2350" dirty="0">
                <a:solidFill>
                  <a:srgbClr val="404155"/>
                </a:solidFill>
                <a:latin typeface="Alexandria" pitchFamily="34" charset="0"/>
                <a:ea typeface="Alexandria" pitchFamily="34" charset="-122"/>
                <a:cs typeface="Alexandria" pitchFamily="34" charset="-120"/>
              </a:rPr>
              <a:t>1</a:t>
            </a:r>
            <a:endParaRPr lang="en-US" sz="2350" dirty="0"/>
          </a:p>
        </p:txBody>
      </p:sp>
      <p:sp>
        <p:nvSpPr>
          <p:cNvPr id="8" name="Text 5"/>
          <p:cNvSpPr/>
          <p:nvPr/>
        </p:nvSpPr>
        <p:spPr>
          <a:xfrm>
            <a:off x="7579876" y="2526149"/>
            <a:ext cx="2903339" cy="311468"/>
          </a:xfrm>
          <a:prstGeom prst="rect">
            <a:avLst/>
          </a:prstGeom>
          <a:noFill/>
          <a:ln/>
        </p:spPr>
        <p:txBody>
          <a:bodyPr wrap="none" lIns="0" tIns="0" rIns="0" bIns="0" rtlCol="0" anchor="t"/>
          <a:lstStyle/>
          <a:p>
            <a:pPr marL="0" indent="0" algn="l">
              <a:lnSpc>
                <a:spcPts val="2450"/>
              </a:lnSpc>
              <a:buNone/>
            </a:pPr>
            <a:r>
              <a:rPr lang="en-US" sz="1950" dirty="0">
                <a:solidFill>
                  <a:srgbClr val="404155"/>
                </a:solidFill>
                <a:latin typeface="Alexandria" pitchFamily="34" charset="0"/>
                <a:ea typeface="Alexandria" pitchFamily="34" charset="-122"/>
                <a:cs typeface="Alexandria" pitchFamily="34" charset="-120"/>
              </a:rPr>
              <a:t>Booking Appointments</a:t>
            </a:r>
            <a:endParaRPr lang="en-US" sz="1950" dirty="0"/>
          </a:p>
        </p:txBody>
      </p:sp>
      <p:sp>
        <p:nvSpPr>
          <p:cNvPr id="9" name="Text 6"/>
          <p:cNvSpPr/>
          <p:nvPr/>
        </p:nvSpPr>
        <p:spPr>
          <a:xfrm>
            <a:off x="7579876" y="2957155"/>
            <a:ext cx="6352699" cy="638175"/>
          </a:xfrm>
          <a:prstGeom prst="rect">
            <a:avLst/>
          </a:prstGeom>
          <a:noFill/>
          <a:ln/>
        </p:spPr>
        <p:txBody>
          <a:bodyPr wrap="square" lIns="0" tIns="0" rIns="0" bIns="0" rtlCol="0" anchor="t"/>
          <a:lstStyle/>
          <a:p>
            <a:pPr marL="0" indent="0" algn="l">
              <a:lnSpc>
                <a:spcPts val="2500"/>
              </a:lnSpc>
              <a:buNone/>
            </a:pPr>
            <a:r>
              <a:rPr lang="en-US" sz="1550" dirty="0">
                <a:solidFill>
                  <a:srgbClr val="404155"/>
                </a:solidFill>
                <a:latin typeface="Nobile" pitchFamily="34" charset="0"/>
                <a:ea typeface="Nobile" pitchFamily="34" charset="-122"/>
                <a:cs typeface="Nobile" pitchFamily="34" charset="-120"/>
              </a:rPr>
              <a:t>Patients can easily book appointments through the HMS, with the system automatically preventing conflicts and overbookings.</a:t>
            </a:r>
            <a:endParaRPr lang="en-US" sz="1550" dirty="0"/>
          </a:p>
        </p:txBody>
      </p:sp>
      <p:sp>
        <p:nvSpPr>
          <p:cNvPr id="10" name="Shape 7"/>
          <p:cNvSpPr/>
          <p:nvPr/>
        </p:nvSpPr>
        <p:spPr>
          <a:xfrm>
            <a:off x="6684764" y="4431149"/>
            <a:ext cx="697825" cy="22860"/>
          </a:xfrm>
          <a:prstGeom prst="roundRect">
            <a:avLst>
              <a:gd name="adj" fmla="val 366346"/>
            </a:avLst>
          </a:prstGeom>
          <a:solidFill>
            <a:srgbClr val="B8C3DF"/>
          </a:solidFill>
          <a:ln/>
        </p:spPr>
      </p:sp>
      <p:sp>
        <p:nvSpPr>
          <p:cNvPr id="11" name="Shape 8"/>
          <p:cNvSpPr/>
          <p:nvPr/>
        </p:nvSpPr>
        <p:spPr>
          <a:xfrm>
            <a:off x="6258997" y="4218265"/>
            <a:ext cx="448628" cy="448628"/>
          </a:xfrm>
          <a:prstGeom prst="roundRect">
            <a:avLst>
              <a:gd name="adj" fmla="val 18667"/>
            </a:avLst>
          </a:prstGeom>
          <a:solidFill>
            <a:srgbClr val="D2DDF9"/>
          </a:solidFill>
          <a:ln w="7620">
            <a:solidFill>
              <a:srgbClr val="B8C3DF"/>
            </a:solidFill>
            <a:prstDash val="solid"/>
          </a:ln>
        </p:spPr>
      </p:sp>
      <p:sp>
        <p:nvSpPr>
          <p:cNvPr id="12" name="Text 9"/>
          <p:cNvSpPr/>
          <p:nvPr/>
        </p:nvSpPr>
        <p:spPr>
          <a:xfrm>
            <a:off x="6395799" y="4293037"/>
            <a:ext cx="175022" cy="299085"/>
          </a:xfrm>
          <a:prstGeom prst="rect">
            <a:avLst/>
          </a:prstGeom>
          <a:noFill/>
          <a:ln/>
        </p:spPr>
        <p:txBody>
          <a:bodyPr wrap="none" lIns="0" tIns="0" rIns="0" bIns="0" rtlCol="0" anchor="t"/>
          <a:lstStyle/>
          <a:p>
            <a:pPr marL="0" indent="0" algn="ctr">
              <a:lnSpc>
                <a:spcPts val="2350"/>
              </a:lnSpc>
              <a:buNone/>
            </a:pPr>
            <a:r>
              <a:rPr lang="en-US" sz="2350" dirty="0">
                <a:solidFill>
                  <a:srgbClr val="404155"/>
                </a:solidFill>
                <a:latin typeface="Alexandria" pitchFamily="34" charset="0"/>
                <a:ea typeface="Alexandria" pitchFamily="34" charset="-122"/>
                <a:cs typeface="Alexandria" pitchFamily="34" charset="-120"/>
              </a:rPr>
              <a:t>2</a:t>
            </a:r>
            <a:endParaRPr lang="en-US" sz="2350" dirty="0"/>
          </a:p>
        </p:txBody>
      </p:sp>
      <p:sp>
        <p:nvSpPr>
          <p:cNvPr id="13" name="Text 10"/>
          <p:cNvSpPr/>
          <p:nvPr/>
        </p:nvSpPr>
        <p:spPr>
          <a:xfrm>
            <a:off x="7579876" y="4193262"/>
            <a:ext cx="2591276" cy="311468"/>
          </a:xfrm>
          <a:prstGeom prst="rect">
            <a:avLst/>
          </a:prstGeom>
          <a:noFill/>
          <a:ln/>
        </p:spPr>
        <p:txBody>
          <a:bodyPr wrap="none" lIns="0" tIns="0" rIns="0" bIns="0" rtlCol="0" anchor="t"/>
          <a:lstStyle/>
          <a:p>
            <a:pPr marL="0" indent="0" algn="l">
              <a:lnSpc>
                <a:spcPts val="2450"/>
              </a:lnSpc>
              <a:buNone/>
            </a:pPr>
            <a:r>
              <a:rPr lang="en-US" sz="1950" dirty="0">
                <a:solidFill>
                  <a:srgbClr val="404155"/>
                </a:solidFill>
                <a:latin typeface="Alexandria" pitchFamily="34" charset="0"/>
                <a:ea typeface="Alexandria" pitchFamily="34" charset="-122"/>
                <a:cs typeface="Alexandria" pitchFamily="34" charset="-120"/>
              </a:rPr>
              <a:t>Managing Schedules</a:t>
            </a:r>
            <a:endParaRPr lang="en-US" sz="1950" dirty="0"/>
          </a:p>
        </p:txBody>
      </p:sp>
      <p:sp>
        <p:nvSpPr>
          <p:cNvPr id="14" name="Text 11"/>
          <p:cNvSpPr/>
          <p:nvPr/>
        </p:nvSpPr>
        <p:spPr>
          <a:xfrm>
            <a:off x="7579876" y="4624268"/>
            <a:ext cx="6352699" cy="957263"/>
          </a:xfrm>
          <a:prstGeom prst="rect">
            <a:avLst/>
          </a:prstGeom>
          <a:noFill/>
          <a:ln/>
        </p:spPr>
        <p:txBody>
          <a:bodyPr wrap="square" lIns="0" tIns="0" rIns="0" bIns="0" rtlCol="0" anchor="t"/>
          <a:lstStyle/>
          <a:p>
            <a:pPr marL="0" indent="0" algn="l">
              <a:lnSpc>
                <a:spcPts val="2500"/>
              </a:lnSpc>
              <a:buNone/>
            </a:pPr>
            <a:r>
              <a:rPr lang="en-US" sz="1550" dirty="0">
                <a:solidFill>
                  <a:srgbClr val="404155"/>
                </a:solidFill>
                <a:latin typeface="Nobile" pitchFamily="34" charset="0"/>
                <a:ea typeface="Nobile" pitchFamily="34" charset="-122"/>
                <a:cs typeface="Nobile" pitchFamily="34" charset="-120"/>
              </a:rPr>
              <a:t>Administrators and doctors can efficiently manage appointment schedules, ensuring optimal utilization of resources and minimizing wait times for patients.</a:t>
            </a:r>
            <a:endParaRPr lang="en-US" sz="1550" dirty="0"/>
          </a:p>
        </p:txBody>
      </p:sp>
      <p:sp>
        <p:nvSpPr>
          <p:cNvPr id="15" name="Shape 12"/>
          <p:cNvSpPr/>
          <p:nvPr/>
        </p:nvSpPr>
        <p:spPr>
          <a:xfrm>
            <a:off x="6684764" y="6417350"/>
            <a:ext cx="697825" cy="22860"/>
          </a:xfrm>
          <a:prstGeom prst="roundRect">
            <a:avLst>
              <a:gd name="adj" fmla="val 366346"/>
            </a:avLst>
          </a:prstGeom>
          <a:solidFill>
            <a:srgbClr val="B8C3DF"/>
          </a:solidFill>
          <a:ln/>
        </p:spPr>
      </p:sp>
      <p:sp>
        <p:nvSpPr>
          <p:cNvPr id="16" name="Shape 13"/>
          <p:cNvSpPr/>
          <p:nvPr/>
        </p:nvSpPr>
        <p:spPr>
          <a:xfrm>
            <a:off x="6258997" y="6204466"/>
            <a:ext cx="448628" cy="448628"/>
          </a:xfrm>
          <a:prstGeom prst="roundRect">
            <a:avLst>
              <a:gd name="adj" fmla="val 18667"/>
            </a:avLst>
          </a:prstGeom>
          <a:solidFill>
            <a:srgbClr val="D2DDF9"/>
          </a:solidFill>
          <a:ln w="7620">
            <a:solidFill>
              <a:srgbClr val="B8C3DF"/>
            </a:solidFill>
            <a:prstDash val="solid"/>
          </a:ln>
        </p:spPr>
      </p:sp>
      <p:sp>
        <p:nvSpPr>
          <p:cNvPr id="17" name="Text 14"/>
          <p:cNvSpPr/>
          <p:nvPr/>
        </p:nvSpPr>
        <p:spPr>
          <a:xfrm>
            <a:off x="6395204" y="6279237"/>
            <a:ext cx="176212" cy="299085"/>
          </a:xfrm>
          <a:prstGeom prst="rect">
            <a:avLst/>
          </a:prstGeom>
          <a:noFill/>
          <a:ln/>
        </p:spPr>
        <p:txBody>
          <a:bodyPr wrap="none" lIns="0" tIns="0" rIns="0" bIns="0" rtlCol="0" anchor="t"/>
          <a:lstStyle/>
          <a:p>
            <a:pPr marL="0" indent="0" algn="ctr">
              <a:lnSpc>
                <a:spcPts val="2350"/>
              </a:lnSpc>
              <a:buNone/>
            </a:pPr>
            <a:r>
              <a:rPr lang="en-US" sz="2350" dirty="0">
                <a:solidFill>
                  <a:srgbClr val="404155"/>
                </a:solidFill>
                <a:latin typeface="Alexandria" pitchFamily="34" charset="0"/>
                <a:ea typeface="Alexandria" pitchFamily="34" charset="-122"/>
                <a:cs typeface="Alexandria" pitchFamily="34" charset="-120"/>
              </a:rPr>
              <a:t>3</a:t>
            </a:r>
            <a:endParaRPr lang="en-US" sz="2350" dirty="0"/>
          </a:p>
        </p:txBody>
      </p:sp>
      <p:sp>
        <p:nvSpPr>
          <p:cNvPr id="18" name="Text 15"/>
          <p:cNvSpPr/>
          <p:nvPr/>
        </p:nvSpPr>
        <p:spPr>
          <a:xfrm>
            <a:off x="7579876" y="6179463"/>
            <a:ext cx="3060025" cy="311468"/>
          </a:xfrm>
          <a:prstGeom prst="rect">
            <a:avLst/>
          </a:prstGeom>
          <a:noFill/>
          <a:ln/>
        </p:spPr>
        <p:txBody>
          <a:bodyPr wrap="none" lIns="0" tIns="0" rIns="0" bIns="0" rtlCol="0" anchor="t"/>
          <a:lstStyle/>
          <a:p>
            <a:pPr marL="0" indent="0" algn="l">
              <a:lnSpc>
                <a:spcPts val="2450"/>
              </a:lnSpc>
              <a:buNone/>
            </a:pPr>
            <a:r>
              <a:rPr lang="en-US" sz="1950" dirty="0">
                <a:solidFill>
                  <a:srgbClr val="404155"/>
                </a:solidFill>
                <a:latin typeface="Alexandria" pitchFamily="34" charset="0"/>
                <a:ea typeface="Alexandria" pitchFamily="34" charset="-122"/>
                <a:cs typeface="Alexandria" pitchFamily="34" charset="-120"/>
              </a:rPr>
              <a:t>Automated Notifications</a:t>
            </a:r>
            <a:endParaRPr lang="en-US" sz="1950" dirty="0"/>
          </a:p>
        </p:txBody>
      </p:sp>
      <p:sp>
        <p:nvSpPr>
          <p:cNvPr id="19" name="Text 16"/>
          <p:cNvSpPr/>
          <p:nvPr/>
        </p:nvSpPr>
        <p:spPr>
          <a:xfrm>
            <a:off x="7579876" y="6610469"/>
            <a:ext cx="6352699" cy="638175"/>
          </a:xfrm>
          <a:prstGeom prst="rect">
            <a:avLst/>
          </a:prstGeom>
          <a:noFill/>
          <a:ln/>
        </p:spPr>
        <p:txBody>
          <a:bodyPr wrap="square" lIns="0" tIns="0" rIns="0" bIns="0" rtlCol="0" anchor="t"/>
          <a:lstStyle/>
          <a:p>
            <a:pPr marL="0" indent="0" algn="l">
              <a:lnSpc>
                <a:spcPts val="2500"/>
              </a:lnSpc>
              <a:buNone/>
            </a:pPr>
            <a:r>
              <a:rPr lang="en-US" sz="1550" dirty="0">
                <a:solidFill>
                  <a:srgbClr val="404155"/>
                </a:solidFill>
                <a:latin typeface="Nobile" pitchFamily="34" charset="0"/>
                <a:ea typeface="Nobile" pitchFamily="34" charset="-122"/>
                <a:cs typeface="Nobile" pitchFamily="34" charset="-120"/>
              </a:rPr>
              <a:t>Patients receive timely email or SMS reminders for their upcoming appointments, reducing the likelihood of missed visits.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8065" y="702588"/>
            <a:ext cx="7526298" cy="632222"/>
          </a:xfrm>
          <a:prstGeom prst="rect">
            <a:avLst/>
          </a:prstGeom>
          <a:noFill/>
          <a:ln/>
        </p:spPr>
        <p:txBody>
          <a:bodyPr wrap="none" lIns="0" tIns="0" rIns="0" bIns="0" rtlCol="0" anchor="t"/>
          <a:lstStyle/>
          <a:p>
            <a:pPr marL="0" indent="0">
              <a:lnSpc>
                <a:spcPts val="4950"/>
              </a:lnSpc>
              <a:buNone/>
            </a:pPr>
            <a:r>
              <a:rPr lang="en-US" sz="3950" dirty="0">
                <a:solidFill>
                  <a:srgbClr val="1B1B27"/>
                </a:solidFill>
                <a:latin typeface="Alexandria" pitchFamily="34" charset="0"/>
                <a:ea typeface="Alexandria" pitchFamily="34" charset="-122"/>
                <a:cs typeface="Alexandria" pitchFamily="34" charset="-120"/>
              </a:rPr>
              <a:t>Optimized Staff Management</a:t>
            </a:r>
            <a:endParaRPr lang="en-US" sz="3950" dirty="0"/>
          </a:p>
        </p:txBody>
      </p:sp>
      <p:sp>
        <p:nvSpPr>
          <p:cNvPr id="4" name="Shape 1"/>
          <p:cNvSpPr/>
          <p:nvPr/>
        </p:nvSpPr>
        <p:spPr>
          <a:xfrm>
            <a:off x="708065" y="1638181"/>
            <a:ext cx="7727871" cy="1828086"/>
          </a:xfrm>
          <a:prstGeom prst="roundRect">
            <a:avLst>
              <a:gd name="adj" fmla="val 4648"/>
            </a:avLst>
          </a:prstGeom>
          <a:solidFill>
            <a:srgbClr val="D2DDF9"/>
          </a:solidFill>
          <a:ln w="7620">
            <a:solidFill>
              <a:srgbClr val="B8C3DF"/>
            </a:solidFill>
            <a:prstDash val="solid"/>
          </a:ln>
        </p:spPr>
      </p:sp>
      <p:sp>
        <p:nvSpPr>
          <p:cNvPr id="5" name="Text 2"/>
          <p:cNvSpPr/>
          <p:nvPr/>
        </p:nvSpPr>
        <p:spPr>
          <a:xfrm>
            <a:off x="917972" y="1848088"/>
            <a:ext cx="2551033" cy="316111"/>
          </a:xfrm>
          <a:prstGeom prst="rect">
            <a:avLst/>
          </a:prstGeom>
          <a:noFill/>
          <a:ln/>
        </p:spPr>
        <p:txBody>
          <a:bodyPr wrap="none" lIns="0" tIns="0" rIns="0" bIns="0" rtlCol="0" anchor="t"/>
          <a:lstStyle/>
          <a:p>
            <a:pPr marL="0" indent="0">
              <a:lnSpc>
                <a:spcPts val="2450"/>
              </a:lnSpc>
              <a:buNone/>
            </a:pPr>
            <a:r>
              <a:rPr lang="en-US" sz="1950" dirty="0">
                <a:solidFill>
                  <a:srgbClr val="404155"/>
                </a:solidFill>
                <a:latin typeface="Alexandria" pitchFamily="34" charset="0"/>
                <a:ea typeface="Alexandria" pitchFamily="34" charset="-122"/>
                <a:cs typeface="Alexandria" pitchFamily="34" charset="-120"/>
              </a:rPr>
              <a:t>Efficient Scheduling</a:t>
            </a:r>
            <a:endParaRPr lang="en-US" sz="1950" dirty="0"/>
          </a:p>
        </p:txBody>
      </p:sp>
      <p:sp>
        <p:nvSpPr>
          <p:cNvPr id="6" name="Text 3"/>
          <p:cNvSpPr/>
          <p:nvPr/>
        </p:nvSpPr>
        <p:spPr>
          <a:xfrm>
            <a:off x="917972" y="2285524"/>
            <a:ext cx="7308056" cy="970836"/>
          </a:xfrm>
          <a:prstGeom prst="rect">
            <a:avLst/>
          </a:prstGeom>
          <a:noFill/>
          <a:ln/>
        </p:spPr>
        <p:txBody>
          <a:bodyPr wrap="squar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The HMS allows administrators to manage and optimize staff schedules based on availability, ensuring the right mix of doctors, nurses, and other personnel to meet the hospital's needs.</a:t>
            </a:r>
            <a:endParaRPr lang="en-US" sz="1550" dirty="0"/>
          </a:p>
        </p:txBody>
      </p:sp>
      <p:sp>
        <p:nvSpPr>
          <p:cNvPr id="7" name="Shape 4"/>
          <p:cNvSpPr/>
          <p:nvPr/>
        </p:nvSpPr>
        <p:spPr>
          <a:xfrm>
            <a:off x="708065" y="3668554"/>
            <a:ext cx="7727871" cy="1828086"/>
          </a:xfrm>
          <a:prstGeom prst="roundRect">
            <a:avLst>
              <a:gd name="adj" fmla="val 4648"/>
            </a:avLst>
          </a:prstGeom>
          <a:solidFill>
            <a:srgbClr val="D2DDF9"/>
          </a:solidFill>
          <a:ln w="7620">
            <a:solidFill>
              <a:srgbClr val="B8C3DF"/>
            </a:solidFill>
            <a:prstDash val="solid"/>
          </a:ln>
        </p:spPr>
      </p:sp>
      <p:sp>
        <p:nvSpPr>
          <p:cNvPr id="8" name="Text 5"/>
          <p:cNvSpPr/>
          <p:nvPr/>
        </p:nvSpPr>
        <p:spPr>
          <a:xfrm>
            <a:off x="917972" y="3878461"/>
            <a:ext cx="2529007" cy="316111"/>
          </a:xfrm>
          <a:prstGeom prst="rect">
            <a:avLst/>
          </a:prstGeom>
          <a:noFill/>
          <a:ln/>
        </p:spPr>
        <p:txBody>
          <a:bodyPr wrap="none" lIns="0" tIns="0" rIns="0" bIns="0" rtlCol="0" anchor="t"/>
          <a:lstStyle/>
          <a:p>
            <a:pPr marL="0" indent="0">
              <a:lnSpc>
                <a:spcPts val="2450"/>
              </a:lnSpc>
              <a:buNone/>
            </a:pPr>
            <a:r>
              <a:rPr lang="en-US" sz="1950" dirty="0">
                <a:solidFill>
                  <a:srgbClr val="404155"/>
                </a:solidFill>
                <a:latin typeface="Alexandria" pitchFamily="34" charset="0"/>
                <a:ea typeface="Alexandria" pitchFamily="34" charset="-122"/>
                <a:cs typeface="Alexandria" pitchFamily="34" charset="-120"/>
              </a:rPr>
              <a:t>Reduced Shortages</a:t>
            </a:r>
            <a:endParaRPr lang="en-US" sz="1950" dirty="0"/>
          </a:p>
        </p:txBody>
      </p:sp>
      <p:sp>
        <p:nvSpPr>
          <p:cNvPr id="9" name="Text 6"/>
          <p:cNvSpPr/>
          <p:nvPr/>
        </p:nvSpPr>
        <p:spPr>
          <a:xfrm>
            <a:off x="917972" y="4315897"/>
            <a:ext cx="7308056" cy="970836"/>
          </a:xfrm>
          <a:prstGeom prst="rect">
            <a:avLst/>
          </a:prstGeom>
          <a:noFill/>
          <a:ln/>
        </p:spPr>
        <p:txBody>
          <a:bodyPr wrap="squar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By effectively managing staff schedules, the system helps prevent staffing shortages or overstaffing, improving operational efficiency and patient care.</a:t>
            </a:r>
            <a:endParaRPr lang="en-US" sz="1550" dirty="0"/>
          </a:p>
        </p:txBody>
      </p:sp>
      <p:sp>
        <p:nvSpPr>
          <p:cNvPr id="10" name="Shape 7"/>
          <p:cNvSpPr/>
          <p:nvPr/>
        </p:nvSpPr>
        <p:spPr>
          <a:xfrm>
            <a:off x="708065" y="5698927"/>
            <a:ext cx="7727871" cy="1828086"/>
          </a:xfrm>
          <a:prstGeom prst="roundRect">
            <a:avLst>
              <a:gd name="adj" fmla="val 4648"/>
            </a:avLst>
          </a:prstGeom>
          <a:solidFill>
            <a:srgbClr val="D2DDF9"/>
          </a:solidFill>
          <a:ln w="7620">
            <a:solidFill>
              <a:srgbClr val="B8C3DF"/>
            </a:solidFill>
            <a:prstDash val="solid"/>
          </a:ln>
        </p:spPr>
      </p:sp>
      <p:sp>
        <p:nvSpPr>
          <p:cNvPr id="11" name="Text 8"/>
          <p:cNvSpPr/>
          <p:nvPr/>
        </p:nvSpPr>
        <p:spPr>
          <a:xfrm>
            <a:off x="917972" y="5908834"/>
            <a:ext cx="2981444" cy="316111"/>
          </a:xfrm>
          <a:prstGeom prst="rect">
            <a:avLst/>
          </a:prstGeom>
          <a:noFill/>
          <a:ln/>
        </p:spPr>
        <p:txBody>
          <a:bodyPr wrap="none" lIns="0" tIns="0" rIns="0" bIns="0" rtlCol="0" anchor="t"/>
          <a:lstStyle/>
          <a:p>
            <a:pPr marL="0" indent="0">
              <a:lnSpc>
                <a:spcPts val="2450"/>
              </a:lnSpc>
              <a:buNone/>
            </a:pPr>
            <a:r>
              <a:rPr lang="en-US" sz="1950" dirty="0">
                <a:solidFill>
                  <a:srgbClr val="404155"/>
                </a:solidFill>
                <a:latin typeface="Alexandria" pitchFamily="34" charset="0"/>
                <a:ea typeface="Alexandria" pitchFamily="34" charset="-122"/>
                <a:cs typeface="Alexandria" pitchFamily="34" charset="-120"/>
              </a:rPr>
              <a:t>Improved Collaboration</a:t>
            </a:r>
            <a:endParaRPr lang="en-US" sz="1950" dirty="0"/>
          </a:p>
        </p:txBody>
      </p:sp>
      <p:sp>
        <p:nvSpPr>
          <p:cNvPr id="12" name="Text 9"/>
          <p:cNvSpPr/>
          <p:nvPr/>
        </p:nvSpPr>
        <p:spPr>
          <a:xfrm>
            <a:off x="917972" y="6346269"/>
            <a:ext cx="7308056" cy="970836"/>
          </a:xfrm>
          <a:prstGeom prst="rect">
            <a:avLst/>
          </a:prstGeom>
          <a:noFill/>
          <a:ln/>
        </p:spPr>
        <p:txBody>
          <a:bodyPr wrap="square" lIns="0" tIns="0" rIns="0" bIns="0" rtlCol="0" anchor="t"/>
          <a:lstStyle/>
          <a:p>
            <a:pPr marL="0" indent="0">
              <a:lnSpc>
                <a:spcPts val="2500"/>
              </a:lnSpc>
              <a:buNone/>
            </a:pPr>
            <a:r>
              <a:rPr lang="en-US" sz="1550" dirty="0">
                <a:solidFill>
                  <a:srgbClr val="404155"/>
                </a:solidFill>
                <a:latin typeface="Nobile" pitchFamily="34" charset="0"/>
                <a:ea typeface="Nobile" pitchFamily="34" charset="-122"/>
                <a:cs typeface="Nobile" pitchFamily="34" charset="-120"/>
              </a:rPr>
              <a:t>The centralized staff management system facilitates better communication and collaboration among healthcare professionals, enhancing the overall quality of patient care.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05088"/>
          </a:xfrm>
          <a:prstGeom prst="rect">
            <a:avLst/>
          </a:prstGeom>
        </p:spPr>
      </p:pic>
      <p:sp>
        <p:nvSpPr>
          <p:cNvPr id="3" name="Text 0"/>
          <p:cNvSpPr/>
          <p:nvPr/>
        </p:nvSpPr>
        <p:spPr>
          <a:xfrm>
            <a:off x="729377" y="3345299"/>
            <a:ext cx="10453926" cy="651272"/>
          </a:xfrm>
          <a:prstGeom prst="rect">
            <a:avLst/>
          </a:prstGeom>
          <a:noFill/>
          <a:ln/>
        </p:spPr>
        <p:txBody>
          <a:bodyPr wrap="none" lIns="0" tIns="0" rIns="0" bIns="0" rtlCol="0" anchor="t"/>
          <a:lstStyle/>
          <a:p>
            <a:pPr marL="0" indent="0">
              <a:lnSpc>
                <a:spcPts val="5100"/>
              </a:lnSpc>
              <a:buNone/>
            </a:pPr>
            <a:r>
              <a:rPr lang="en-US" sz="4100" dirty="0">
                <a:solidFill>
                  <a:srgbClr val="1B1B27"/>
                </a:solidFill>
                <a:latin typeface="Alexandria" pitchFamily="34" charset="0"/>
                <a:ea typeface="Alexandria" pitchFamily="34" charset="-122"/>
                <a:cs typeface="Alexandria" pitchFamily="34" charset="-120"/>
              </a:rPr>
              <a:t>Comprehensive Pharmacy Management</a:t>
            </a:r>
            <a:endParaRPr lang="en-US" sz="4100" dirty="0"/>
          </a:p>
        </p:txBody>
      </p:sp>
      <p:pic>
        <p:nvPicPr>
          <p:cNvPr id="4" name="Image 1" descr="preencoded.png"/>
          <p:cNvPicPr>
            <a:picLocks noChangeAspect="1"/>
          </p:cNvPicPr>
          <p:nvPr/>
        </p:nvPicPr>
        <p:blipFill>
          <a:blip r:embed="rId4"/>
          <a:stretch>
            <a:fillRect/>
          </a:stretch>
        </p:blipFill>
        <p:spPr>
          <a:xfrm>
            <a:off x="729377" y="4309110"/>
            <a:ext cx="521018" cy="521017"/>
          </a:xfrm>
          <a:prstGeom prst="rect">
            <a:avLst/>
          </a:prstGeom>
        </p:spPr>
      </p:pic>
      <p:sp>
        <p:nvSpPr>
          <p:cNvPr id="5" name="Text 1"/>
          <p:cNvSpPr/>
          <p:nvPr/>
        </p:nvSpPr>
        <p:spPr>
          <a:xfrm>
            <a:off x="729377" y="5038487"/>
            <a:ext cx="2605087" cy="325636"/>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Inventory Tracking</a:t>
            </a:r>
            <a:endParaRPr lang="en-US" sz="2050" dirty="0"/>
          </a:p>
        </p:txBody>
      </p:sp>
      <p:sp>
        <p:nvSpPr>
          <p:cNvPr id="6" name="Text 2"/>
          <p:cNvSpPr/>
          <p:nvPr/>
        </p:nvSpPr>
        <p:spPr>
          <a:xfrm>
            <a:off x="729377" y="5489138"/>
            <a:ext cx="3058478" cy="1666875"/>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Pharmacists can efficiently manage drug inventory levels, ensuring the availability of necessary medications and reducing the risk of stockouts.</a:t>
            </a:r>
            <a:endParaRPr lang="en-US" sz="1600" dirty="0"/>
          </a:p>
        </p:txBody>
      </p:sp>
      <p:pic>
        <p:nvPicPr>
          <p:cNvPr id="7" name="Image 2" descr="preencoded.png"/>
          <p:cNvPicPr>
            <a:picLocks noChangeAspect="1"/>
          </p:cNvPicPr>
          <p:nvPr/>
        </p:nvPicPr>
        <p:blipFill>
          <a:blip r:embed="rId5"/>
          <a:stretch>
            <a:fillRect/>
          </a:stretch>
        </p:blipFill>
        <p:spPr>
          <a:xfrm>
            <a:off x="4100393" y="4309110"/>
            <a:ext cx="521018" cy="521017"/>
          </a:xfrm>
          <a:prstGeom prst="rect">
            <a:avLst/>
          </a:prstGeom>
        </p:spPr>
      </p:pic>
      <p:sp>
        <p:nvSpPr>
          <p:cNvPr id="8" name="Text 3"/>
          <p:cNvSpPr/>
          <p:nvPr/>
        </p:nvSpPr>
        <p:spPr>
          <a:xfrm>
            <a:off x="4100393" y="5038487"/>
            <a:ext cx="3032522" cy="325636"/>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Prescription Processing</a:t>
            </a:r>
            <a:endParaRPr lang="en-US" sz="2050" dirty="0"/>
          </a:p>
        </p:txBody>
      </p:sp>
      <p:sp>
        <p:nvSpPr>
          <p:cNvPr id="9" name="Text 4"/>
          <p:cNvSpPr/>
          <p:nvPr/>
        </p:nvSpPr>
        <p:spPr>
          <a:xfrm>
            <a:off x="4100393" y="5489138"/>
            <a:ext cx="3058478" cy="2000250"/>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The system allows pharmacists to receive and process prescriptions electronically, streamlining the medication dispensing process.</a:t>
            </a:r>
            <a:endParaRPr lang="en-US" sz="1600" dirty="0"/>
          </a:p>
        </p:txBody>
      </p:sp>
      <p:pic>
        <p:nvPicPr>
          <p:cNvPr id="10" name="Image 3" descr="preencoded.png"/>
          <p:cNvPicPr>
            <a:picLocks noChangeAspect="1"/>
          </p:cNvPicPr>
          <p:nvPr/>
        </p:nvPicPr>
        <p:blipFill>
          <a:blip r:embed="rId6"/>
          <a:stretch>
            <a:fillRect/>
          </a:stretch>
        </p:blipFill>
        <p:spPr>
          <a:xfrm>
            <a:off x="7471410" y="4309110"/>
            <a:ext cx="521018" cy="521017"/>
          </a:xfrm>
          <a:prstGeom prst="rect">
            <a:avLst/>
          </a:prstGeom>
        </p:spPr>
      </p:pic>
      <p:sp>
        <p:nvSpPr>
          <p:cNvPr id="11" name="Text 5"/>
          <p:cNvSpPr/>
          <p:nvPr/>
        </p:nvSpPr>
        <p:spPr>
          <a:xfrm>
            <a:off x="7471410" y="5038487"/>
            <a:ext cx="2605087" cy="325636"/>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Dispensing Records</a:t>
            </a:r>
            <a:endParaRPr lang="en-US" sz="2050" dirty="0"/>
          </a:p>
        </p:txBody>
      </p:sp>
      <p:sp>
        <p:nvSpPr>
          <p:cNvPr id="12" name="Text 6"/>
          <p:cNvSpPr/>
          <p:nvPr/>
        </p:nvSpPr>
        <p:spPr>
          <a:xfrm>
            <a:off x="7471410" y="5489138"/>
            <a:ext cx="3058478" cy="2000250"/>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The HMS tracks all medication dispensing activities, providing pharmacists with a comprehensive view of prescription history and usage patterns.</a:t>
            </a:r>
            <a:endParaRPr lang="en-US" sz="1600" dirty="0"/>
          </a:p>
        </p:txBody>
      </p:sp>
      <p:pic>
        <p:nvPicPr>
          <p:cNvPr id="13" name="Image 4" descr="preencoded.png"/>
          <p:cNvPicPr>
            <a:picLocks noChangeAspect="1"/>
          </p:cNvPicPr>
          <p:nvPr/>
        </p:nvPicPr>
        <p:blipFill>
          <a:blip r:embed="rId7"/>
          <a:stretch>
            <a:fillRect/>
          </a:stretch>
        </p:blipFill>
        <p:spPr>
          <a:xfrm>
            <a:off x="10842427" y="4309110"/>
            <a:ext cx="521018" cy="521017"/>
          </a:xfrm>
          <a:prstGeom prst="rect">
            <a:avLst/>
          </a:prstGeom>
        </p:spPr>
      </p:pic>
      <p:sp>
        <p:nvSpPr>
          <p:cNvPr id="14" name="Text 7"/>
          <p:cNvSpPr/>
          <p:nvPr/>
        </p:nvSpPr>
        <p:spPr>
          <a:xfrm>
            <a:off x="10842427" y="5038487"/>
            <a:ext cx="2605087" cy="325636"/>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Reporting</a:t>
            </a:r>
            <a:endParaRPr lang="en-US" sz="2050" dirty="0"/>
          </a:p>
        </p:txBody>
      </p:sp>
      <p:sp>
        <p:nvSpPr>
          <p:cNvPr id="15" name="Text 8"/>
          <p:cNvSpPr/>
          <p:nvPr/>
        </p:nvSpPr>
        <p:spPr>
          <a:xfrm>
            <a:off x="10842427" y="5489138"/>
            <a:ext cx="3058597" cy="2000250"/>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Detailed reports on pharmacy operations, including stock levels, prescription trends, and medication errors, help identify areas for improvement.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07681" y="767715"/>
            <a:ext cx="7032308" cy="643890"/>
          </a:xfrm>
          <a:prstGeom prst="rect">
            <a:avLst/>
          </a:prstGeom>
          <a:noFill/>
          <a:ln/>
        </p:spPr>
        <p:txBody>
          <a:bodyPr wrap="none" lIns="0" tIns="0" rIns="0" bIns="0" rtlCol="0" anchor="t"/>
          <a:lstStyle/>
          <a:p>
            <a:pPr marL="0" indent="0">
              <a:lnSpc>
                <a:spcPts val="5050"/>
              </a:lnSpc>
              <a:buNone/>
            </a:pPr>
            <a:r>
              <a:rPr lang="en-US" sz="4050" dirty="0">
                <a:solidFill>
                  <a:srgbClr val="1B1B27"/>
                </a:solidFill>
                <a:latin typeface="Alexandria" pitchFamily="34" charset="0"/>
                <a:ea typeface="Alexandria" pitchFamily="34" charset="-122"/>
                <a:cs typeface="Alexandria" pitchFamily="34" charset="-120"/>
              </a:rPr>
              <a:t>Secure User Authentication</a:t>
            </a:r>
            <a:endParaRPr lang="en-US" sz="4050" dirty="0"/>
          </a:p>
        </p:txBody>
      </p:sp>
      <p:sp>
        <p:nvSpPr>
          <p:cNvPr id="4" name="Shape 1"/>
          <p:cNvSpPr/>
          <p:nvPr/>
        </p:nvSpPr>
        <p:spPr>
          <a:xfrm>
            <a:off x="6207681" y="1952506"/>
            <a:ext cx="463629" cy="463629"/>
          </a:xfrm>
          <a:prstGeom prst="roundRect">
            <a:avLst>
              <a:gd name="adj" fmla="val 18669"/>
            </a:avLst>
          </a:prstGeom>
          <a:solidFill>
            <a:srgbClr val="D2DDF9"/>
          </a:solidFill>
          <a:ln w="7620">
            <a:solidFill>
              <a:srgbClr val="B8C3DF"/>
            </a:solidFill>
            <a:prstDash val="solid"/>
          </a:ln>
        </p:spPr>
      </p:sp>
      <p:sp>
        <p:nvSpPr>
          <p:cNvPr id="5" name="Text 2"/>
          <p:cNvSpPr/>
          <p:nvPr/>
        </p:nvSpPr>
        <p:spPr>
          <a:xfrm>
            <a:off x="6381512" y="2029778"/>
            <a:ext cx="115967" cy="309086"/>
          </a:xfrm>
          <a:prstGeom prst="rect">
            <a:avLst/>
          </a:prstGeom>
          <a:noFill/>
          <a:ln/>
        </p:spPr>
        <p:txBody>
          <a:bodyPr wrap="none" lIns="0" tIns="0" rIns="0" bIns="0" rtlCol="0" anchor="t"/>
          <a:lstStyle/>
          <a:p>
            <a:pPr marL="0" indent="0" algn="ctr">
              <a:lnSpc>
                <a:spcPts val="2400"/>
              </a:lnSpc>
              <a:buNone/>
            </a:pPr>
            <a:r>
              <a:rPr lang="en-US" sz="2400" dirty="0">
                <a:solidFill>
                  <a:srgbClr val="404155"/>
                </a:solidFill>
                <a:latin typeface="Alexandria" pitchFamily="34" charset="0"/>
                <a:ea typeface="Alexandria" pitchFamily="34" charset="-122"/>
                <a:cs typeface="Alexandria" pitchFamily="34" charset="-120"/>
              </a:rPr>
              <a:t>1</a:t>
            </a:r>
            <a:endParaRPr lang="en-US" sz="2400" dirty="0"/>
          </a:p>
        </p:txBody>
      </p:sp>
      <p:sp>
        <p:nvSpPr>
          <p:cNvPr id="6" name="Text 3"/>
          <p:cNvSpPr/>
          <p:nvPr/>
        </p:nvSpPr>
        <p:spPr>
          <a:xfrm>
            <a:off x="6877288" y="1952506"/>
            <a:ext cx="2576036" cy="322064"/>
          </a:xfrm>
          <a:prstGeom prst="rect">
            <a:avLst/>
          </a:prstGeom>
          <a:noFill/>
          <a:ln/>
        </p:spPr>
        <p:txBody>
          <a:bodyPr wrap="none" lIns="0" tIns="0" rIns="0" bIns="0" rtlCol="0" anchor="t"/>
          <a:lstStyle/>
          <a:p>
            <a:pPr marL="0" indent="0">
              <a:lnSpc>
                <a:spcPts val="2500"/>
              </a:lnSpc>
              <a:buNone/>
            </a:pPr>
            <a:r>
              <a:rPr lang="en-US" sz="2000" dirty="0">
                <a:solidFill>
                  <a:srgbClr val="404155"/>
                </a:solidFill>
                <a:latin typeface="Alexandria" pitchFamily="34" charset="0"/>
                <a:ea typeface="Alexandria" pitchFamily="34" charset="-122"/>
                <a:cs typeface="Alexandria" pitchFamily="34" charset="-120"/>
              </a:rPr>
              <a:t>Role-Based Access</a:t>
            </a:r>
            <a:endParaRPr lang="en-US" sz="2000" dirty="0"/>
          </a:p>
        </p:txBody>
      </p:sp>
      <p:sp>
        <p:nvSpPr>
          <p:cNvPr id="7" name="Text 4"/>
          <p:cNvSpPr/>
          <p:nvPr/>
        </p:nvSpPr>
        <p:spPr>
          <a:xfrm>
            <a:off x="6877288" y="2398157"/>
            <a:ext cx="7031831" cy="1318736"/>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The HMS implements a robust user authentication system with role-based access control, ensuring that patients, doctors, pharmacists, and administrators can only perform actions relevant to their respective roles.</a:t>
            </a:r>
            <a:endParaRPr lang="en-US" sz="1600" dirty="0"/>
          </a:p>
        </p:txBody>
      </p:sp>
      <p:sp>
        <p:nvSpPr>
          <p:cNvPr id="8" name="Shape 5"/>
          <p:cNvSpPr/>
          <p:nvPr/>
        </p:nvSpPr>
        <p:spPr>
          <a:xfrm>
            <a:off x="6207681" y="4154686"/>
            <a:ext cx="463629" cy="463629"/>
          </a:xfrm>
          <a:prstGeom prst="roundRect">
            <a:avLst>
              <a:gd name="adj" fmla="val 18669"/>
            </a:avLst>
          </a:prstGeom>
          <a:solidFill>
            <a:srgbClr val="D2DDF9"/>
          </a:solidFill>
          <a:ln w="7620">
            <a:solidFill>
              <a:srgbClr val="B8C3DF"/>
            </a:solidFill>
            <a:prstDash val="solid"/>
          </a:ln>
        </p:spPr>
      </p:sp>
      <p:sp>
        <p:nvSpPr>
          <p:cNvPr id="9" name="Text 6"/>
          <p:cNvSpPr/>
          <p:nvPr/>
        </p:nvSpPr>
        <p:spPr>
          <a:xfrm>
            <a:off x="6349008" y="4231958"/>
            <a:ext cx="180856" cy="309086"/>
          </a:xfrm>
          <a:prstGeom prst="rect">
            <a:avLst/>
          </a:prstGeom>
          <a:noFill/>
          <a:ln/>
        </p:spPr>
        <p:txBody>
          <a:bodyPr wrap="none" lIns="0" tIns="0" rIns="0" bIns="0" rtlCol="0" anchor="t"/>
          <a:lstStyle/>
          <a:p>
            <a:pPr marL="0" indent="0" algn="ctr">
              <a:lnSpc>
                <a:spcPts val="2400"/>
              </a:lnSpc>
              <a:buNone/>
            </a:pPr>
            <a:r>
              <a:rPr lang="en-US" sz="2400" dirty="0">
                <a:solidFill>
                  <a:srgbClr val="404155"/>
                </a:solidFill>
                <a:latin typeface="Alexandria" pitchFamily="34" charset="0"/>
                <a:ea typeface="Alexandria" pitchFamily="34" charset="-122"/>
                <a:cs typeface="Alexandria" pitchFamily="34" charset="-120"/>
              </a:rPr>
              <a:t>2</a:t>
            </a:r>
            <a:endParaRPr lang="en-US" sz="2400" dirty="0"/>
          </a:p>
        </p:txBody>
      </p:sp>
      <p:sp>
        <p:nvSpPr>
          <p:cNvPr id="10" name="Text 7"/>
          <p:cNvSpPr/>
          <p:nvPr/>
        </p:nvSpPr>
        <p:spPr>
          <a:xfrm>
            <a:off x="6877288" y="4154686"/>
            <a:ext cx="2576036" cy="322064"/>
          </a:xfrm>
          <a:prstGeom prst="rect">
            <a:avLst/>
          </a:prstGeom>
          <a:noFill/>
          <a:ln/>
        </p:spPr>
        <p:txBody>
          <a:bodyPr wrap="none" lIns="0" tIns="0" rIns="0" bIns="0" rtlCol="0" anchor="t"/>
          <a:lstStyle/>
          <a:p>
            <a:pPr marL="0" indent="0">
              <a:lnSpc>
                <a:spcPts val="2500"/>
              </a:lnSpc>
              <a:buNone/>
            </a:pPr>
            <a:r>
              <a:rPr lang="en-US" sz="2000" dirty="0">
                <a:solidFill>
                  <a:srgbClr val="404155"/>
                </a:solidFill>
                <a:latin typeface="Alexandria" pitchFamily="34" charset="0"/>
                <a:ea typeface="Alexandria" pitchFamily="34" charset="-122"/>
                <a:cs typeface="Alexandria" pitchFamily="34" charset="-120"/>
              </a:rPr>
              <a:t>Data Privacy</a:t>
            </a:r>
            <a:endParaRPr lang="en-US" sz="2000" dirty="0"/>
          </a:p>
        </p:txBody>
      </p:sp>
      <p:sp>
        <p:nvSpPr>
          <p:cNvPr id="11" name="Text 8"/>
          <p:cNvSpPr/>
          <p:nvPr/>
        </p:nvSpPr>
        <p:spPr>
          <a:xfrm>
            <a:off x="6877288" y="4600337"/>
            <a:ext cx="7031831" cy="989052"/>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By restricting access to sensitive patient information and hospital operations, the system helps maintain the confidentiality and integrity of data, in compliance with healthcare regulations.</a:t>
            </a:r>
            <a:endParaRPr lang="en-US" sz="1600" dirty="0"/>
          </a:p>
        </p:txBody>
      </p:sp>
      <p:sp>
        <p:nvSpPr>
          <p:cNvPr id="12" name="Shape 9"/>
          <p:cNvSpPr/>
          <p:nvPr/>
        </p:nvSpPr>
        <p:spPr>
          <a:xfrm>
            <a:off x="6207681" y="6027182"/>
            <a:ext cx="463629" cy="463629"/>
          </a:xfrm>
          <a:prstGeom prst="roundRect">
            <a:avLst>
              <a:gd name="adj" fmla="val 18669"/>
            </a:avLst>
          </a:prstGeom>
          <a:solidFill>
            <a:srgbClr val="D2DDF9"/>
          </a:solidFill>
          <a:ln w="7620">
            <a:solidFill>
              <a:srgbClr val="B8C3DF"/>
            </a:solidFill>
            <a:prstDash val="solid"/>
          </a:ln>
        </p:spPr>
      </p:sp>
      <p:sp>
        <p:nvSpPr>
          <p:cNvPr id="13" name="Text 10"/>
          <p:cNvSpPr/>
          <p:nvPr/>
        </p:nvSpPr>
        <p:spPr>
          <a:xfrm>
            <a:off x="6348413" y="6104453"/>
            <a:ext cx="182047" cy="309086"/>
          </a:xfrm>
          <a:prstGeom prst="rect">
            <a:avLst/>
          </a:prstGeom>
          <a:noFill/>
          <a:ln/>
        </p:spPr>
        <p:txBody>
          <a:bodyPr wrap="none" lIns="0" tIns="0" rIns="0" bIns="0" rtlCol="0" anchor="t"/>
          <a:lstStyle/>
          <a:p>
            <a:pPr marL="0" indent="0" algn="ctr">
              <a:lnSpc>
                <a:spcPts val="2400"/>
              </a:lnSpc>
              <a:buNone/>
            </a:pPr>
            <a:r>
              <a:rPr lang="en-US" sz="2400" dirty="0">
                <a:solidFill>
                  <a:srgbClr val="404155"/>
                </a:solidFill>
                <a:latin typeface="Alexandria" pitchFamily="34" charset="0"/>
                <a:ea typeface="Alexandria" pitchFamily="34" charset="-122"/>
                <a:cs typeface="Alexandria" pitchFamily="34" charset="-120"/>
              </a:rPr>
              <a:t>3</a:t>
            </a:r>
            <a:endParaRPr lang="en-US" sz="2400" dirty="0"/>
          </a:p>
        </p:txBody>
      </p:sp>
      <p:sp>
        <p:nvSpPr>
          <p:cNvPr id="14" name="Text 11"/>
          <p:cNvSpPr/>
          <p:nvPr/>
        </p:nvSpPr>
        <p:spPr>
          <a:xfrm>
            <a:off x="6877288" y="6027182"/>
            <a:ext cx="2576036" cy="322064"/>
          </a:xfrm>
          <a:prstGeom prst="rect">
            <a:avLst/>
          </a:prstGeom>
          <a:noFill/>
          <a:ln/>
        </p:spPr>
        <p:txBody>
          <a:bodyPr wrap="none" lIns="0" tIns="0" rIns="0" bIns="0" rtlCol="0" anchor="t"/>
          <a:lstStyle/>
          <a:p>
            <a:pPr marL="0" indent="0">
              <a:lnSpc>
                <a:spcPts val="2500"/>
              </a:lnSpc>
              <a:buNone/>
            </a:pPr>
            <a:r>
              <a:rPr lang="en-US" sz="2000" dirty="0">
                <a:solidFill>
                  <a:srgbClr val="404155"/>
                </a:solidFill>
                <a:latin typeface="Alexandria" pitchFamily="34" charset="0"/>
                <a:ea typeface="Alexandria" pitchFamily="34" charset="-122"/>
                <a:cs typeface="Alexandria" pitchFamily="34" charset="-120"/>
              </a:rPr>
              <a:t>Audit Trails</a:t>
            </a:r>
            <a:endParaRPr lang="en-US" sz="2000" dirty="0"/>
          </a:p>
        </p:txBody>
      </p:sp>
      <p:sp>
        <p:nvSpPr>
          <p:cNvPr id="15" name="Text 12"/>
          <p:cNvSpPr/>
          <p:nvPr/>
        </p:nvSpPr>
        <p:spPr>
          <a:xfrm>
            <a:off x="6877288" y="6472833"/>
            <a:ext cx="7031831" cy="989052"/>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The authentication system tracks all user activities, providing a comprehensive audit trail that can be used to monitor system usage and identify any potential security breaches.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17563" y="823436"/>
            <a:ext cx="6413897" cy="652701"/>
          </a:xfrm>
          <a:prstGeom prst="rect">
            <a:avLst/>
          </a:prstGeom>
          <a:noFill/>
          <a:ln/>
        </p:spPr>
        <p:txBody>
          <a:bodyPr wrap="none" lIns="0" tIns="0" rIns="0" bIns="0" rtlCol="0" anchor="t"/>
          <a:lstStyle/>
          <a:p>
            <a:pPr marL="0" indent="0">
              <a:lnSpc>
                <a:spcPts val="5100"/>
              </a:lnSpc>
              <a:buNone/>
            </a:pPr>
            <a:r>
              <a:rPr lang="en-US" sz="4100" dirty="0">
                <a:solidFill>
                  <a:srgbClr val="1B1B27"/>
                </a:solidFill>
                <a:latin typeface="Alexandria" pitchFamily="34" charset="0"/>
                <a:ea typeface="Alexandria" pitchFamily="34" charset="-122"/>
                <a:cs typeface="Alexandria" pitchFamily="34" charset="-120"/>
              </a:rPr>
              <a:t>Automated Notifications</a:t>
            </a:r>
            <a:endParaRPr lang="en-US" sz="4100" dirty="0"/>
          </a:p>
        </p:txBody>
      </p:sp>
      <p:pic>
        <p:nvPicPr>
          <p:cNvPr id="4" name="Image 1" descr="preencoded.png"/>
          <p:cNvPicPr>
            <a:picLocks noChangeAspect="1"/>
          </p:cNvPicPr>
          <p:nvPr/>
        </p:nvPicPr>
        <p:blipFill>
          <a:blip r:embed="rId4"/>
          <a:stretch>
            <a:fillRect/>
          </a:stretch>
        </p:blipFill>
        <p:spPr>
          <a:xfrm>
            <a:off x="6217563" y="1789390"/>
            <a:ext cx="1044416" cy="1872258"/>
          </a:xfrm>
          <a:prstGeom prst="rect">
            <a:avLst/>
          </a:prstGeom>
        </p:spPr>
      </p:pic>
      <p:sp>
        <p:nvSpPr>
          <p:cNvPr id="5" name="Text 1"/>
          <p:cNvSpPr/>
          <p:nvPr/>
        </p:nvSpPr>
        <p:spPr>
          <a:xfrm>
            <a:off x="7575233" y="1998226"/>
            <a:ext cx="3257907" cy="326350"/>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Appointment Reminders</a:t>
            </a:r>
            <a:endParaRPr lang="en-US" sz="2050" dirty="0"/>
          </a:p>
        </p:txBody>
      </p:sp>
      <p:sp>
        <p:nvSpPr>
          <p:cNvPr id="6" name="Text 2"/>
          <p:cNvSpPr/>
          <p:nvPr/>
        </p:nvSpPr>
        <p:spPr>
          <a:xfrm>
            <a:off x="7575233" y="2449830"/>
            <a:ext cx="6324005" cy="1002983"/>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Patients receive timely email or SMS notifications for their upcoming appointments, reducing the likelihood of missed visits.</a:t>
            </a:r>
            <a:endParaRPr lang="en-US" sz="1600" dirty="0"/>
          </a:p>
        </p:txBody>
      </p:sp>
      <p:pic>
        <p:nvPicPr>
          <p:cNvPr id="7" name="Image 2" descr="preencoded.png"/>
          <p:cNvPicPr>
            <a:picLocks noChangeAspect="1"/>
          </p:cNvPicPr>
          <p:nvPr/>
        </p:nvPicPr>
        <p:blipFill>
          <a:blip r:embed="rId5"/>
          <a:stretch>
            <a:fillRect/>
          </a:stretch>
        </p:blipFill>
        <p:spPr>
          <a:xfrm>
            <a:off x="6217563" y="3661648"/>
            <a:ext cx="1044416" cy="1872258"/>
          </a:xfrm>
          <a:prstGeom prst="rect">
            <a:avLst/>
          </a:prstGeom>
        </p:spPr>
      </p:pic>
      <p:sp>
        <p:nvSpPr>
          <p:cNvPr id="8" name="Text 3"/>
          <p:cNvSpPr/>
          <p:nvPr/>
        </p:nvSpPr>
        <p:spPr>
          <a:xfrm>
            <a:off x="7575233" y="3870484"/>
            <a:ext cx="2611279" cy="326350"/>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Prescription Refills</a:t>
            </a:r>
            <a:endParaRPr lang="en-US" sz="2050" dirty="0"/>
          </a:p>
        </p:txBody>
      </p:sp>
      <p:sp>
        <p:nvSpPr>
          <p:cNvPr id="9" name="Text 4"/>
          <p:cNvSpPr/>
          <p:nvPr/>
        </p:nvSpPr>
        <p:spPr>
          <a:xfrm>
            <a:off x="7575233" y="4322088"/>
            <a:ext cx="6324005" cy="1002983"/>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The system automatically sends reminders to patients when their prescriptions are due for a refill, ensuring they never run out of their medications.</a:t>
            </a:r>
            <a:endParaRPr lang="en-US" sz="1600" dirty="0"/>
          </a:p>
        </p:txBody>
      </p:sp>
      <p:pic>
        <p:nvPicPr>
          <p:cNvPr id="10" name="Image 3" descr="preencoded.png"/>
          <p:cNvPicPr>
            <a:picLocks noChangeAspect="1"/>
          </p:cNvPicPr>
          <p:nvPr/>
        </p:nvPicPr>
        <p:blipFill>
          <a:blip r:embed="rId6"/>
          <a:stretch>
            <a:fillRect/>
          </a:stretch>
        </p:blipFill>
        <p:spPr>
          <a:xfrm>
            <a:off x="6217563" y="5533906"/>
            <a:ext cx="1044416" cy="1872258"/>
          </a:xfrm>
          <a:prstGeom prst="rect">
            <a:avLst/>
          </a:prstGeom>
        </p:spPr>
      </p:pic>
      <p:sp>
        <p:nvSpPr>
          <p:cNvPr id="11" name="Text 5"/>
          <p:cNvSpPr/>
          <p:nvPr/>
        </p:nvSpPr>
        <p:spPr>
          <a:xfrm>
            <a:off x="7575233" y="5742742"/>
            <a:ext cx="3436977" cy="326350"/>
          </a:xfrm>
          <a:prstGeom prst="rect">
            <a:avLst/>
          </a:prstGeom>
          <a:noFill/>
          <a:ln/>
        </p:spPr>
        <p:txBody>
          <a:bodyPr wrap="none" lIns="0" tIns="0" rIns="0" bIns="0" rtlCol="0" anchor="t"/>
          <a:lstStyle/>
          <a:p>
            <a:pPr marL="0" indent="0" algn="l">
              <a:lnSpc>
                <a:spcPts val="2550"/>
              </a:lnSpc>
              <a:buNone/>
            </a:pPr>
            <a:r>
              <a:rPr lang="en-US" sz="2050" dirty="0">
                <a:solidFill>
                  <a:srgbClr val="404155"/>
                </a:solidFill>
                <a:latin typeface="Alexandria" pitchFamily="34" charset="0"/>
                <a:ea typeface="Alexandria" pitchFamily="34" charset="-122"/>
                <a:cs typeface="Alexandria" pitchFamily="34" charset="-120"/>
              </a:rPr>
              <a:t>Improved Communication</a:t>
            </a:r>
            <a:endParaRPr lang="en-US" sz="2050" dirty="0"/>
          </a:p>
        </p:txBody>
      </p:sp>
      <p:sp>
        <p:nvSpPr>
          <p:cNvPr id="12" name="Text 6"/>
          <p:cNvSpPr/>
          <p:nvPr/>
        </p:nvSpPr>
        <p:spPr>
          <a:xfrm>
            <a:off x="7575233" y="6194346"/>
            <a:ext cx="6324005" cy="1002983"/>
          </a:xfrm>
          <a:prstGeom prst="rect">
            <a:avLst/>
          </a:prstGeom>
          <a:noFill/>
          <a:ln/>
        </p:spPr>
        <p:txBody>
          <a:bodyPr wrap="square" lIns="0" tIns="0" rIns="0" bIns="0" rtlCol="0" anchor="t"/>
          <a:lstStyle/>
          <a:p>
            <a:pPr marL="0" indent="0" algn="l">
              <a:lnSpc>
                <a:spcPts val="2600"/>
              </a:lnSpc>
              <a:buNone/>
            </a:pPr>
            <a:r>
              <a:rPr lang="en-US" sz="1600" dirty="0">
                <a:solidFill>
                  <a:srgbClr val="404155"/>
                </a:solidFill>
                <a:latin typeface="Nobile" pitchFamily="34" charset="0"/>
                <a:ea typeface="Nobile" pitchFamily="34" charset="-122"/>
                <a:cs typeface="Nobile" pitchFamily="34" charset="-120"/>
              </a:rPr>
              <a:t>The notification system enhances communication between the hospital and patients, leading to better engagement and improved overall patient satisfaction.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07323" y="930235"/>
            <a:ext cx="6546533" cy="643652"/>
          </a:xfrm>
          <a:prstGeom prst="rect">
            <a:avLst/>
          </a:prstGeom>
          <a:noFill/>
          <a:ln/>
        </p:spPr>
        <p:txBody>
          <a:bodyPr wrap="none" lIns="0" tIns="0" rIns="0" bIns="0" rtlCol="0" anchor="t"/>
          <a:lstStyle/>
          <a:p>
            <a:pPr marL="0" indent="0">
              <a:lnSpc>
                <a:spcPts val="5050"/>
              </a:lnSpc>
              <a:buNone/>
            </a:pPr>
            <a:r>
              <a:rPr lang="en-US" sz="4050" dirty="0">
                <a:solidFill>
                  <a:srgbClr val="1B1B27"/>
                </a:solidFill>
                <a:latin typeface="Alexandria" pitchFamily="34" charset="0"/>
                <a:ea typeface="Alexandria" pitchFamily="34" charset="-122"/>
                <a:cs typeface="Alexandria" pitchFamily="34" charset="-120"/>
              </a:rPr>
              <a:t>Deployment and Support</a:t>
            </a:r>
            <a:endParaRPr lang="en-US" sz="4050" dirty="0"/>
          </a:p>
        </p:txBody>
      </p:sp>
      <p:sp>
        <p:nvSpPr>
          <p:cNvPr id="4" name="Shape 1"/>
          <p:cNvSpPr/>
          <p:nvPr/>
        </p:nvSpPr>
        <p:spPr>
          <a:xfrm>
            <a:off x="6207323" y="1882854"/>
            <a:ext cx="7702153" cy="5416391"/>
          </a:xfrm>
          <a:prstGeom prst="roundRect">
            <a:avLst>
              <a:gd name="adj" fmla="val 1597"/>
            </a:avLst>
          </a:prstGeom>
          <a:noFill/>
          <a:ln w="7620">
            <a:solidFill>
              <a:srgbClr val="000000">
                <a:alpha val="8000"/>
              </a:srgbClr>
            </a:solidFill>
            <a:prstDash val="solid"/>
          </a:ln>
        </p:spPr>
      </p:sp>
      <p:sp>
        <p:nvSpPr>
          <p:cNvPr id="5" name="Shape 2"/>
          <p:cNvSpPr/>
          <p:nvPr/>
        </p:nvSpPr>
        <p:spPr>
          <a:xfrm>
            <a:off x="6214943" y="1890474"/>
            <a:ext cx="7686913" cy="1580674"/>
          </a:xfrm>
          <a:prstGeom prst="rect">
            <a:avLst/>
          </a:prstGeom>
          <a:solidFill>
            <a:srgbClr val="FFFFFF">
              <a:alpha val="4000"/>
            </a:srgbClr>
          </a:solidFill>
          <a:ln/>
        </p:spPr>
      </p:sp>
      <p:sp>
        <p:nvSpPr>
          <p:cNvPr id="6" name="Text 3"/>
          <p:cNvSpPr/>
          <p:nvPr/>
        </p:nvSpPr>
        <p:spPr>
          <a:xfrm>
            <a:off x="6420922" y="2021681"/>
            <a:ext cx="3427690" cy="329565"/>
          </a:xfrm>
          <a:prstGeom prst="rect">
            <a:avLst/>
          </a:prstGeom>
          <a:noFill/>
          <a:ln/>
        </p:spPr>
        <p:txBody>
          <a:bodyPr wrap="non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Cloud Hosting</a:t>
            </a:r>
            <a:endParaRPr lang="en-US" sz="1600" dirty="0"/>
          </a:p>
        </p:txBody>
      </p:sp>
      <p:sp>
        <p:nvSpPr>
          <p:cNvPr id="7" name="Text 4"/>
          <p:cNvSpPr/>
          <p:nvPr/>
        </p:nvSpPr>
        <p:spPr>
          <a:xfrm>
            <a:off x="10268188" y="2021681"/>
            <a:ext cx="3427690" cy="1318260"/>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The HMS will be deployed on a cloud platform, such as Azure or AWS, ensuring scalability, reliability, and easy maintenance.</a:t>
            </a:r>
            <a:endParaRPr lang="en-US" sz="1600" dirty="0"/>
          </a:p>
        </p:txBody>
      </p:sp>
      <p:sp>
        <p:nvSpPr>
          <p:cNvPr id="8" name="Shape 5"/>
          <p:cNvSpPr/>
          <p:nvPr/>
        </p:nvSpPr>
        <p:spPr>
          <a:xfrm>
            <a:off x="6214943" y="3471148"/>
            <a:ext cx="7686913" cy="1580674"/>
          </a:xfrm>
          <a:prstGeom prst="rect">
            <a:avLst/>
          </a:prstGeom>
          <a:solidFill>
            <a:srgbClr val="000000">
              <a:alpha val="4000"/>
            </a:srgbClr>
          </a:solidFill>
          <a:ln/>
        </p:spPr>
      </p:sp>
      <p:sp>
        <p:nvSpPr>
          <p:cNvPr id="9" name="Text 6"/>
          <p:cNvSpPr/>
          <p:nvPr/>
        </p:nvSpPr>
        <p:spPr>
          <a:xfrm>
            <a:off x="6420922" y="3602355"/>
            <a:ext cx="3427690" cy="329565"/>
          </a:xfrm>
          <a:prstGeom prst="rect">
            <a:avLst/>
          </a:prstGeom>
          <a:noFill/>
          <a:ln/>
        </p:spPr>
        <p:txBody>
          <a:bodyPr wrap="non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Continuous Integration</a:t>
            </a:r>
            <a:endParaRPr lang="en-US" sz="1600" dirty="0"/>
          </a:p>
        </p:txBody>
      </p:sp>
      <p:sp>
        <p:nvSpPr>
          <p:cNvPr id="10" name="Text 7"/>
          <p:cNvSpPr/>
          <p:nvPr/>
        </p:nvSpPr>
        <p:spPr>
          <a:xfrm>
            <a:off x="10268188" y="3602355"/>
            <a:ext cx="3427690" cy="1318260"/>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A robust CI/CD pipeline will be implemented to automate the deployment process, enabling seamless updates and bug fixes.</a:t>
            </a:r>
            <a:endParaRPr lang="en-US" sz="1600" dirty="0"/>
          </a:p>
        </p:txBody>
      </p:sp>
      <p:sp>
        <p:nvSpPr>
          <p:cNvPr id="11" name="Shape 8"/>
          <p:cNvSpPr/>
          <p:nvPr/>
        </p:nvSpPr>
        <p:spPr>
          <a:xfrm>
            <a:off x="6214943" y="5051822"/>
            <a:ext cx="7686913" cy="2239804"/>
          </a:xfrm>
          <a:prstGeom prst="rect">
            <a:avLst/>
          </a:prstGeom>
          <a:solidFill>
            <a:srgbClr val="FFFFFF">
              <a:alpha val="4000"/>
            </a:srgbClr>
          </a:solidFill>
          <a:ln/>
        </p:spPr>
      </p:sp>
      <p:sp>
        <p:nvSpPr>
          <p:cNvPr id="12" name="Text 9"/>
          <p:cNvSpPr/>
          <p:nvPr/>
        </p:nvSpPr>
        <p:spPr>
          <a:xfrm>
            <a:off x="6420922" y="5183029"/>
            <a:ext cx="3427690" cy="329565"/>
          </a:xfrm>
          <a:prstGeom prst="rect">
            <a:avLst/>
          </a:prstGeom>
          <a:noFill/>
          <a:ln/>
        </p:spPr>
        <p:txBody>
          <a:bodyPr wrap="non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Technical Support</a:t>
            </a:r>
            <a:endParaRPr lang="en-US" sz="1600" dirty="0"/>
          </a:p>
        </p:txBody>
      </p:sp>
      <p:sp>
        <p:nvSpPr>
          <p:cNvPr id="13" name="Text 10"/>
          <p:cNvSpPr/>
          <p:nvPr/>
        </p:nvSpPr>
        <p:spPr>
          <a:xfrm>
            <a:off x="10268188" y="5183029"/>
            <a:ext cx="3427690" cy="1977390"/>
          </a:xfrm>
          <a:prstGeom prst="rect">
            <a:avLst/>
          </a:prstGeom>
          <a:noFill/>
          <a:ln/>
        </p:spPr>
        <p:txBody>
          <a:bodyPr wrap="square" lIns="0" tIns="0" rIns="0" bIns="0" rtlCol="0" anchor="t"/>
          <a:lstStyle/>
          <a:p>
            <a:pPr marL="0" indent="0">
              <a:lnSpc>
                <a:spcPts val="2550"/>
              </a:lnSpc>
              <a:buNone/>
            </a:pPr>
            <a:r>
              <a:rPr lang="en-US" sz="1600" dirty="0">
                <a:solidFill>
                  <a:srgbClr val="404155"/>
                </a:solidFill>
                <a:latin typeface="Nobile" pitchFamily="34" charset="0"/>
                <a:ea typeface="Nobile" pitchFamily="34" charset="-122"/>
                <a:cs typeface="Nobile" pitchFamily="34" charset="-120"/>
              </a:rPr>
              <a:t>Comprehensive technical documentation and user guides will be provided, along with dedicated support channels for users to address any issues or questions.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788075" y="767715"/>
            <a:ext cx="6451914" cy="643890"/>
          </a:xfrm>
          <a:prstGeom prst="rect">
            <a:avLst/>
          </a:prstGeom>
          <a:noFill/>
          <a:ln/>
        </p:spPr>
        <p:txBody>
          <a:bodyPr wrap="none" lIns="0" tIns="0" rIns="0" bIns="0" rtlCol="0" anchor="t"/>
          <a:lstStyle/>
          <a:p>
            <a:r>
              <a:rPr lang="en-US" sz="4400" b="1" dirty="0"/>
              <a:t>Prototype</a:t>
            </a:r>
          </a:p>
        </p:txBody>
      </p:sp>
      <p:sp>
        <p:nvSpPr>
          <p:cNvPr id="5" name="Text 2"/>
          <p:cNvSpPr/>
          <p:nvPr/>
        </p:nvSpPr>
        <p:spPr>
          <a:xfrm>
            <a:off x="6381512" y="2029778"/>
            <a:ext cx="115967" cy="309086"/>
          </a:xfrm>
          <a:prstGeom prst="rect">
            <a:avLst/>
          </a:prstGeom>
          <a:noFill/>
          <a:ln/>
        </p:spPr>
        <p:txBody>
          <a:bodyPr wrap="none" lIns="0" tIns="0" rIns="0" bIns="0" rtlCol="0" anchor="t"/>
          <a:lstStyle/>
          <a:p>
            <a:pPr marL="0" indent="0" algn="ctr">
              <a:lnSpc>
                <a:spcPts val="2400"/>
              </a:lnSpc>
              <a:buNone/>
            </a:pPr>
            <a:endParaRPr lang="en-US" sz="2400" dirty="0"/>
          </a:p>
        </p:txBody>
      </p:sp>
      <p:sp>
        <p:nvSpPr>
          <p:cNvPr id="15" name="Text 12"/>
          <p:cNvSpPr/>
          <p:nvPr/>
        </p:nvSpPr>
        <p:spPr>
          <a:xfrm>
            <a:off x="6877288" y="2194560"/>
            <a:ext cx="7031831" cy="5267325"/>
          </a:xfrm>
          <a:prstGeom prst="rect">
            <a:avLst/>
          </a:prstGeom>
          <a:noFill/>
          <a:ln/>
        </p:spPr>
        <p:txBody>
          <a:bodyPr wrap="square" lIns="0" tIns="0" rIns="0" bIns="0" rtlCol="0" anchor="t"/>
          <a:lstStyle/>
          <a:p>
            <a:r>
              <a:rPr lang="en-US" sz="2400" dirty="0"/>
              <a:t>The prototyping stage is a crucial step in the design process, allowing designers to explore and refine their ideas before moving forward. This series of images showcases the iterative nature of prototyping, with various shapes and forms representing the different stages of development.</a:t>
            </a:r>
          </a:p>
        </p:txBody>
      </p:sp>
      <p:pic>
        <p:nvPicPr>
          <p:cNvPr id="17" name="Picture 16">
            <a:extLst>
              <a:ext uri="{FF2B5EF4-FFF2-40B4-BE49-F238E27FC236}">
                <a16:creationId xmlns:a16="http://schemas.microsoft.com/office/drawing/2014/main" id="{DF255C8A-4723-1396-0779-D5C27BD588F8}"/>
              </a:ext>
            </a:extLst>
          </p:cNvPr>
          <p:cNvPicPr>
            <a:picLocks noChangeAspect="1"/>
          </p:cNvPicPr>
          <p:nvPr/>
        </p:nvPicPr>
        <p:blipFill>
          <a:blip r:embed="rId3"/>
          <a:stretch>
            <a:fillRect/>
          </a:stretch>
        </p:blipFill>
        <p:spPr>
          <a:xfrm>
            <a:off x="827769" y="2029778"/>
            <a:ext cx="4324954" cy="4286848"/>
          </a:xfrm>
          <a:prstGeom prst="rect">
            <a:avLst/>
          </a:prstGeom>
        </p:spPr>
      </p:pic>
    </p:spTree>
    <p:extLst>
      <p:ext uri="{BB962C8B-B14F-4D97-AF65-F5344CB8AC3E}">
        <p14:creationId xmlns:p14="http://schemas.microsoft.com/office/powerpoint/2010/main" val="3599730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463E050-2471-2528-B865-C1C3689D1477}"/>
              </a:ext>
            </a:extLst>
          </p:cNvPr>
          <p:cNvPicPr>
            <a:picLocks noChangeAspect="1"/>
          </p:cNvPicPr>
          <p:nvPr/>
        </p:nvPicPr>
        <p:blipFill>
          <a:blip r:embed="rId3"/>
          <a:stretch>
            <a:fillRect/>
          </a:stretch>
        </p:blipFill>
        <p:spPr>
          <a:xfrm>
            <a:off x="758968" y="1092207"/>
            <a:ext cx="12870970" cy="6045185"/>
          </a:xfrm>
          <a:prstGeom prst="rect">
            <a:avLst/>
          </a:prstGeom>
        </p:spPr>
      </p:pic>
    </p:spTree>
    <p:extLst>
      <p:ext uri="{BB962C8B-B14F-4D97-AF65-F5344CB8AC3E}">
        <p14:creationId xmlns:p14="http://schemas.microsoft.com/office/powerpoint/2010/main" val="943814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and person holding hands&#10;&#10;Description automatically generated">
            <a:extLst>
              <a:ext uri="{FF2B5EF4-FFF2-40B4-BE49-F238E27FC236}">
                <a16:creationId xmlns:a16="http://schemas.microsoft.com/office/drawing/2014/main" id="{08A5E980-9214-C9C5-3CF7-138A520D9E84}"/>
              </a:ext>
            </a:extLst>
          </p:cNvPr>
          <p:cNvPicPr>
            <a:picLocks noChangeAspect="1"/>
          </p:cNvPicPr>
          <p:nvPr/>
        </p:nvPicPr>
        <p:blipFill>
          <a:blip r:embed="rId3"/>
          <a:stretch>
            <a:fillRect/>
          </a:stretch>
        </p:blipFill>
        <p:spPr>
          <a:xfrm>
            <a:off x="728391" y="815044"/>
            <a:ext cx="13173618" cy="6147688"/>
          </a:xfrm>
          <a:prstGeom prst="rect">
            <a:avLst/>
          </a:prstGeom>
        </p:spPr>
      </p:pic>
    </p:spTree>
    <p:extLst>
      <p:ext uri="{BB962C8B-B14F-4D97-AF65-F5344CB8AC3E}">
        <p14:creationId xmlns:p14="http://schemas.microsoft.com/office/powerpoint/2010/main" val="1519983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medical website&#10;&#10;Description automatically generated">
            <a:extLst>
              <a:ext uri="{FF2B5EF4-FFF2-40B4-BE49-F238E27FC236}">
                <a16:creationId xmlns:a16="http://schemas.microsoft.com/office/drawing/2014/main" id="{B475FB33-D4A3-642D-B9CE-92877CB8BBE0}"/>
              </a:ext>
            </a:extLst>
          </p:cNvPr>
          <p:cNvPicPr>
            <a:picLocks noChangeAspect="1"/>
          </p:cNvPicPr>
          <p:nvPr/>
        </p:nvPicPr>
        <p:blipFill>
          <a:blip r:embed="rId3"/>
          <a:stretch>
            <a:fillRect/>
          </a:stretch>
        </p:blipFill>
        <p:spPr>
          <a:xfrm>
            <a:off x="1041979" y="994848"/>
            <a:ext cx="12546441" cy="6239903"/>
          </a:xfrm>
          <a:prstGeom prst="rect">
            <a:avLst/>
          </a:prstGeom>
        </p:spPr>
      </p:pic>
    </p:spTree>
    <p:extLst>
      <p:ext uri="{BB962C8B-B14F-4D97-AF65-F5344CB8AC3E}">
        <p14:creationId xmlns:p14="http://schemas.microsoft.com/office/powerpoint/2010/main" val="2296962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medical website&#10;&#10;Description automatically generated">
            <a:extLst>
              <a:ext uri="{FF2B5EF4-FFF2-40B4-BE49-F238E27FC236}">
                <a16:creationId xmlns:a16="http://schemas.microsoft.com/office/drawing/2014/main" id="{463AAD69-D0E6-55EF-7516-AE40911CAB0E}"/>
              </a:ext>
            </a:extLst>
          </p:cNvPr>
          <p:cNvPicPr>
            <a:picLocks noChangeAspect="1"/>
          </p:cNvPicPr>
          <p:nvPr/>
        </p:nvPicPr>
        <p:blipFill>
          <a:blip r:embed="rId3"/>
          <a:stretch>
            <a:fillRect/>
          </a:stretch>
        </p:blipFill>
        <p:spPr>
          <a:xfrm>
            <a:off x="492845" y="729952"/>
            <a:ext cx="13644710" cy="6348580"/>
          </a:xfrm>
          <a:prstGeom prst="rect">
            <a:avLst/>
          </a:prstGeom>
        </p:spPr>
      </p:pic>
    </p:spTree>
    <p:extLst>
      <p:ext uri="{BB962C8B-B14F-4D97-AF65-F5344CB8AC3E}">
        <p14:creationId xmlns:p14="http://schemas.microsoft.com/office/powerpoint/2010/main" val="21701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people in white coats&#10;&#10;Description automatically generated">
            <a:extLst>
              <a:ext uri="{FF2B5EF4-FFF2-40B4-BE49-F238E27FC236}">
                <a16:creationId xmlns:a16="http://schemas.microsoft.com/office/drawing/2014/main" id="{BE36C059-AF66-2109-D61F-FE99B3BAB2FB}"/>
              </a:ext>
            </a:extLst>
          </p:cNvPr>
          <p:cNvPicPr>
            <a:picLocks noChangeAspect="1"/>
          </p:cNvPicPr>
          <p:nvPr/>
        </p:nvPicPr>
        <p:blipFill>
          <a:blip r:embed="rId3"/>
          <a:stretch>
            <a:fillRect/>
          </a:stretch>
        </p:blipFill>
        <p:spPr>
          <a:xfrm>
            <a:off x="709068" y="1298783"/>
            <a:ext cx="13212263" cy="5632033"/>
          </a:xfrm>
          <a:prstGeom prst="rect">
            <a:avLst/>
          </a:prstGeom>
        </p:spPr>
      </p:pic>
    </p:spTree>
    <p:extLst>
      <p:ext uri="{BB962C8B-B14F-4D97-AF65-F5344CB8AC3E}">
        <p14:creationId xmlns:p14="http://schemas.microsoft.com/office/powerpoint/2010/main" val="544432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ntact us page&#10;&#10;Description automatically generated">
            <a:extLst>
              <a:ext uri="{FF2B5EF4-FFF2-40B4-BE49-F238E27FC236}">
                <a16:creationId xmlns:a16="http://schemas.microsoft.com/office/drawing/2014/main" id="{2A785D4E-10FB-C9C1-48C9-8A12A77E81A5}"/>
              </a:ext>
            </a:extLst>
          </p:cNvPr>
          <p:cNvPicPr>
            <a:picLocks noChangeAspect="1"/>
          </p:cNvPicPr>
          <p:nvPr/>
        </p:nvPicPr>
        <p:blipFill>
          <a:blip r:embed="rId3"/>
          <a:stretch>
            <a:fillRect/>
          </a:stretch>
        </p:blipFill>
        <p:spPr>
          <a:xfrm>
            <a:off x="1182918" y="1010602"/>
            <a:ext cx="12264563" cy="5702170"/>
          </a:xfrm>
          <a:prstGeom prst="rect">
            <a:avLst/>
          </a:prstGeom>
        </p:spPr>
      </p:pic>
    </p:spTree>
    <p:extLst>
      <p:ext uri="{BB962C8B-B14F-4D97-AF65-F5344CB8AC3E}">
        <p14:creationId xmlns:p14="http://schemas.microsoft.com/office/powerpoint/2010/main" val="2074173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45523473-AA4D-FADE-2889-ABAD734FA7F9}"/>
              </a:ext>
            </a:extLst>
          </p:cNvPr>
          <p:cNvPicPr>
            <a:picLocks noChangeAspect="1"/>
          </p:cNvPicPr>
          <p:nvPr/>
        </p:nvPicPr>
        <p:blipFill>
          <a:blip r:embed="rId3"/>
          <a:stretch>
            <a:fillRect/>
          </a:stretch>
        </p:blipFill>
        <p:spPr>
          <a:xfrm>
            <a:off x="487275" y="704271"/>
            <a:ext cx="13655850" cy="6428049"/>
          </a:xfrm>
          <a:prstGeom prst="rect">
            <a:avLst/>
          </a:prstGeom>
        </p:spPr>
      </p:pic>
    </p:spTree>
    <p:extLst>
      <p:ext uri="{BB962C8B-B14F-4D97-AF65-F5344CB8AC3E}">
        <p14:creationId xmlns:p14="http://schemas.microsoft.com/office/powerpoint/2010/main" val="14202838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17</TotalTime>
  <Words>707</Words>
  <Application>Microsoft Office PowerPoint</Application>
  <PresentationFormat>Custom</PresentationFormat>
  <Paragraphs>77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Gill Sans MT</vt:lpstr>
      <vt:lpstr>Alexandria</vt:lpstr>
      <vt:lpstr>Nobile</vt:lpstr>
      <vt:lpstr>Arial</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mostafa tharwat</cp:lastModifiedBy>
  <cp:revision>3</cp:revision>
  <dcterms:created xsi:type="dcterms:W3CDTF">2024-10-12T08:36:55Z</dcterms:created>
  <dcterms:modified xsi:type="dcterms:W3CDTF">2024-10-16T16:36:09Z</dcterms:modified>
</cp:coreProperties>
</file>